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c284d7a5cd4b26" /><Relationship Type="http://schemas.openxmlformats.org/officeDocument/2006/relationships/extended-properties" Target="/docProps/app.xml" Id="R24529726dfdf4724" /><Relationship Type="http://schemas.openxmlformats.org/officeDocument/2006/relationships/officeDocument" Target="/ppt/presentation.xml" Id="Rca5e61604b7248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3b50714a2244d5"/>
  </p:sldMasterIdLst>
  <p:notesMasterIdLst>
    <p:notesMasterId xmlns:r="http://schemas.openxmlformats.org/officeDocument/2006/relationships" r:id="Rdc9bccb507544d78"/>
  </p:notesMasterIdLst>
  <p:sldIdLst>
    <p:sldId xmlns:r="http://schemas.openxmlformats.org/officeDocument/2006/relationships" id="256" r:id="R81d8352044f548eb"/>
    <p:sldId xmlns:r="http://schemas.openxmlformats.org/officeDocument/2006/relationships" id="257" r:id="R649bdfd68dcc4d9c"/>
    <p:sldId xmlns:r="http://schemas.openxmlformats.org/officeDocument/2006/relationships" id="258" r:id="R98b33ce1795840c2"/>
    <p:sldId xmlns:r="http://schemas.openxmlformats.org/officeDocument/2006/relationships" id="259" r:id="R5109f7a18f764b1c"/>
    <p:sldId xmlns:r="http://schemas.openxmlformats.org/officeDocument/2006/relationships" id="260" r:id="Re2e49acd6ff94f3d"/>
    <p:sldId xmlns:r="http://schemas.openxmlformats.org/officeDocument/2006/relationships" id="261" r:id="R093ad5675c394516"/>
    <p:sldId xmlns:r="http://schemas.openxmlformats.org/officeDocument/2006/relationships" id="262" r:id="R32917152724f4efa"/>
    <p:sldId xmlns:r="http://schemas.openxmlformats.org/officeDocument/2006/relationships" id="263" r:id="Rdd43ef01dfca442b"/>
    <p:sldId xmlns:r="http://schemas.openxmlformats.org/officeDocument/2006/relationships" id="264" r:id="Rfcb87b3cd08847e7"/>
    <p:sldId xmlns:r="http://schemas.openxmlformats.org/officeDocument/2006/relationships" id="265" r:id="R42b0f10af6424f75"/>
    <p:sldId xmlns:r="http://schemas.openxmlformats.org/officeDocument/2006/relationships" id="266" r:id="R274ffea636744993"/>
    <p:sldId xmlns:r="http://schemas.openxmlformats.org/officeDocument/2006/relationships" id="267" r:id="R7397f84b7aee4f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54b03e90594529" /><Relationship Type="http://schemas.openxmlformats.org/officeDocument/2006/relationships/slideMaster" Target="/ppt/slideMasters/slideMaster1.xml" Id="R233b50714a2244d5" /><Relationship Type="http://schemas.openxmlformats.org/officeDocument/2006/relationships/notesMaster" Target="/ppt/notesMasters/notesMaster1.xml" Id="Rdc9bccb507544d78" /><Relationship Type="http://schemas.openxmlformats.org/officeDocument/2006/relationships/presProps" Target="/ppt/presProps.xml" Id="R608adcea82a44ed4" /><Relationship Type="http://schemas.openxmlformats.org/officeDocument/2006/relationships/tableStyles" Target="/ppt/tableStyles.xml" Id="R4008453e510b4b57" /><Relationship Type="http://schemas.openxmlformats.org/officeDocument/2006/relationships/slide" Target="/ppt/slides/slide1.xml" Id="R81d8352044f548eb" /><Relationship Type="http://schemas.openxmlformats.org/officeDocument/2006/relationships/slide" Target="/ppt/slides/slide2.xml" Id="R649bdfd68dcc4d9c" /><Relationship Type="http://schemas.openxmlformats.org/officeDocument/2006/relationships/slide" Target="/ppt/slides/slide3.xml" Id="R98b33ce1795840c2" /><Relationship Type="http://schemas.openxmlformats.org/officeDocument/2006/relationships/slide" Target="/ppt/slides/slide4.xml" Id="R5109f7a18f764b1c" /><Relationship Type="http://schemas.openxmlformats.org/officeDocument/2006/relationships/slide" Target="/ppt/slides/slide5.xml" Id="Re2e49acd6ff94f3d" /><Relationship Type="http://schemas.openxmlformats.org/officeDocument/2006/relationships/slide" Target="/ppt/slides/slide6.xml" Id="R093ad5675c394516" /><Relationship Type="http://schemas.openxmlformats.org/officeDocument/2006/relationships/slide" Target="/ppt/slides/slide7.xml" Id="R32917152724f4efa" /><Relationship Type="http://schemas.openxmlformats.org/officeDocument/2006/relationships/slide" Target="/ppt/slides/slide8.xml" Id="Rdd43ef01dfca442b" /><Relationship Type="http://schemas.openxmlformats.org/officeDocument/2006/relationships/slide" Target="/ppt/slides/slide9.xml" Id="Rfcb87b3cd08847e7" /><Relationship Type="http://schemas.openxmlformats.org/officeDocument/2006/relationships/slide" Target="/ppt/slides/slide10.xml" Id="R42b0f10af6424f75" /><Relationship Type="http://schemas.openxmlformats.org/officeDocument/2006/relationships/slide" Target="/ppt/slides/slide11.xml" Id="R274ffea636744993" /><Relationship Type="http://schemas.openxmlformats.org/officeDocument/2006/relationships/slide" Target="/ppt/slides/slide12.xml" Id="R7397f84b7aee4f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b60b8f806c4d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1b32a6e68d43a2" /><Relationship Type="http://schemas.openxmlformats.org/officeDocument/2006/relationships/notesMaster" Target="/ppt/notesMasters/notesMaster1.xml" Id="Rcc54d289863945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5a852505d442be" /><Relationship Type="http://schemas.openxmlformats.org/officeDocument/2006/relationships/notesMaster" Target="/ppt/notesMasters/notesMaster1.xml" Id="R9665400985304d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ef4763c334445b" /><Relationship Type="http://schemas.openxmlformats.org/officeDocument/2006/relationships/notesMaster" Target="/ppt/notesMasters/notesMaster1.xml" Id="R0b97a4fd53a94f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58643a1ed049f7" /><Relationship Type="http://schemas.openxmlformats.org/officeDocument/2006/relationships/notesMaster" Target="/ppt/notesMasters/notesMaster1.xml" Id="R25178db8ded648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7f8047dbc74438" /><Relationship Type="http://schemas.openxmlformats.org/officeDocument/2006/relationships/notesMaster" Target="/ppt/notesMasters/notesMaster1.xml" Id="R6def5c0445554e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42ac4dc1f6446a" /><Relationship Type="http://schemas.openxmlformats.org/officeDocument/2006/relationships/notesMaster" Target="/ppt/notesMasters/notesMaster1.xml" Id="Ra923b10d875b41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1f2cd6942b43cb" /><Relationship Type="http://schemas.openxmlformats.org/officeDocument/2006/relationships/notesMaster" Target="/ppt/notesMasters/notesMaster1.xml" Id="R5bf0e338ea0d4d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aa4e154ec64597" /><Relationship Type="http://schemas.openxmlformats.org/officeDocument/2006/relationships/notesMaster" Target="/ppt/notesMasters/notesMaster1.xml" Id="R9d683168060f4d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6e65c676bc4bc6" /><Relationship Type="http://schemas.openxmlformats.org/officeDocument/2006/relationships/notesMaster" Target="/ppt/notesMasters/notesMaster1.xml" Id="R1a7774c5e49a42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8569e04380d458b" /><Relationship Type="http://schemas.openxmlformats.org/officeDocument/2006/relationships/notesMaster" Target="/ppt/notesMasters/notesMaster1.xml" Id="Rac1d814ca1b04e4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28ac3ffd4bc4f0e" /><Relationship Type="http://schemas.openxmlformats.org/officeDocument/2006/relationships/notesMaster" Target="/ppt/notesMasters/notesMaster1.xml" Id="R3d9c06c66332494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c422f8d0bdc4bc1" /><Relationship Type="http://schemas.openxmlformats.org/officeDocument/2006/relationships/notesMaster" Target="/ppt/notesMasters/notesMaster1.xml" Id="R8edb580639e248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同学好，我是陈艺。本次围绕“水系锌离子电池有机正极的分子结构调控与储能机制”汇报三篇工作。我们共同关注一个问题：如何通过分子设计，改变活性位点、电子结构和离子存储方式，从而改善电化学表现？第一篇比较硫桥联萘醌ANQ和MNQ，第二篇讨论扩展含氮骨架DOP的双极性反应，第三篇讨论BTAQX的阴离子储能。三者是我们整理出的研究思路递进，不代表作者之间有直接技术继承。最后提出可检验的后续实验，全部属于拟开展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【来源与证据定位】</a:t>
            </a:r>
          </a:p>
          <a:p xmlns:a="http://schemas.openxmlformats.org/drawingml/2006/main">
            <a:r>
              <a:t>P1:Text: Tailored Electronegativity-Driven Naphthoquinone-Based Cathodes With Boosted Active Sites for High-Performance Aqueous Zinc-Organic Batteries; Advanced Functional Materials 2026, e76927; DOI:10.1002/adfm.76927; PDF第2页 Introduction; Results PDF3–10</a:t>
            </a:r>
          </a:p>
          <a:p xmlns:a="http://schemas.openxmlformats.org/drawingml/2006/main">
            <a:r>
              <a:t>P2:Fig1: High-Performance Bipolar Small-Molecule Organic Cathode for Wide-Temperature-Range Aqueous Zinc-Ion Batteries; ACS Nano 2025, 19, 14249–14261; DOI:10.1021/acsnano.5c00833; PDF第2页 Figure 1, printed page 14250</a:t>
            </a:r>
          </a:p>
          <a:p xmlns:a="http://schemas.openxmlformats.org/drawingml/2006/main">
            <a:r>
              <a:t>P3:Fig1: High-voltage organic cathodes dominated by anion intercalation for all-organic aqueous zinc-ion battery; Chemical Engineering Journal 2025, 524, 169407; DOI:10.1016/j.cej.2025.169407; PDF第2页 Fig.1</a:t>
            </a:r>
          </a:p>
          <a:p xmlns:a="http://schemas.openxmlformats.org/drawingml/2006/main">
            <a:r>
              <a:t>【结构说明】按用户指定12页编排，覆盖技能默认分篇信息页/目录/结束页。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水系锌电池的吸引力来自锌资源、非易燃水系电解液与制造成本潜力，但体系仍受锌负极副反应、电解液窗口及正极稳定性限制，安全性不能理解为没有风险。有机正极允许在分子尺度改变官能团与骨架，但小分子溶解、导电不足、位点利用不充分之间存在权衡。理论容量与可逆电子数及分子量有关，并不意味着含氮或含氧原子越多就一定容量越高。我们将把材料骨架、活性位点、电子结构、离子路径及稳定性放在同一框架内分析，并用实验条件约束性能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【来源与证据定位】</a:t>
            </a:r>
          </a:p>
          <a:p xmlns:a="http://schemas.openxmlformats.org/drawingml/2006/main">
            <a:r>
              <a:t>P1:Text: Tailored Electronegativity-Driven Naphthoquinone-Based Cathodes With Boosted Active Sites for High-Performance Aqueous Zinc-Organic Batteries; Advanced Functional Materials 2026, e76927; DOI:10.1002/adfm.76927; PDF第2页 Introduction; Results PDF3–10</a:t>
            </a:r>
          </a:p>
          <a:p xmlns:a="http://schemas.openxmlformats.org/drawingml/2006/main">
            <a:r>
              <a:t>P2:Fig1: High-Performance Bipolar Small-Molecule Organic Cathode for Wide-Temperature-Range Aqueous Zinc-Ion Batteries; ACS Nano 2025, 19, 14249–14261; DOI:10.1021/acsnano.5c00833; PDF第2页 Figure 1, printed page 14250</a:t>
            </a:r>
          </a:p>
          <a:p xmlns:a="http://schemas.openxmlformats.org/drawingml/2006/main">
            <a:r>
              <a:t>P3:Text: High-voltage organic cathodes dominated by anion intercalation for all-organic aqueous zinc-ion battery; Chemical Engineering Journal 2025, 524, 169407; DOI:10.1016/j.cej.2025.169407; PDF第6页 Results PDF4–7</a:t>
            </a:r>
          </a:p>
          <a:p xmlns:a="http://schemas.openxmlformats.org/drawingml/2006/main">
            <a:r>
              <a:t>【结构说明】按用户指定12页编排，覆盖技能默认分篇信息页/目录/结束页。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建立统一框架。ANQ/MNQ保留萘醌羰基，主要改变硫桥联方式及电子分布；DOP通过含氮共轭延伸，同时引入可发生n型和p型反应的中心；BTAQX关注含NH骨架在充电时氧化，并以OTF阴离子电荷补偿。这里的n/p指分子氧化还原特征，不能只看结构式就判定离子贡献。后面每篇都依次检查结构、性能、反应方向和表征证据，最后横向比较。三篇数据测试条件不同，尤其DOP使用2M高氯酸锌、BTAQX使用1M三氟甲磺酸锌，因此只比较设计思路，不做无条件性能排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【来源与证据定位】</a:t>
            </a:r>
          </a:p>
          <a:p xmlns:a="http://schemas.openxmlformats.org/drawingml/2006/main">
            <a:r>
              <a:t>P1:anq-synthesis: Tailored Electronegativity-Driven Naphthoquinone-Based Cathodes With Boosted Active Sites for High-Performance Aqueous Zinc-Organic Batteries; Advanced Functional Materials 2026, e76927; DOI:10.1002/adfm.76927; PDF第4页 Fig.1a</a:t>
            </a:r>
          </a:p>
          <a:p xmlns:a="http://schemas.openxmlformats.org/drawingml/2006/main">
            <a:r>
              <a:t>P2:dop-structure: High-Performance Bipolar Small-Molecule Organic Cathode for Wide-Temperature-Range Aqueous Zinc-Ion Batteries; ACS Nano 2025, 19, 14249–14261; DOI:10.1021/acsnano.5c00833; PDF第2页 Figure1a, DTP/DOP structural formulas</a:t>
            </a:r>
          </a:p>
          <a:p xmlns:a="http://schemas.openxmlformats.org/drawingml/2006/main">
            <a:r>
              <a:t>P3:Fig1a: High-voltage organic cathodes dominated by anion intercalation for all-organic aqueous zinc-ion battery; Chemical Engineering Journal 2025, 524, 169407; DOI:10.1016/j.cej.2025.169407; PDF第2页 Fig.1a</a:t>
            </a:r>
          </a:p>
          <a:p xmlns:a="http://schemas.openxmlformats.org/drawingml/2006/main">
            <a:r>
              <a:t>【结构说明】按用户指定12页编排，覆盖技能默认分篇信息页/目录/结束页。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篇以1,4-萘醌为活性单元，分别引入DTDA二硫桥和ASD硫醚桥，得到MNQ和ANQ。这个对照保留了羰基结构，但桥长、构象和分子量也随之改变，不能当作完全只改变电负性的理想单变量实验。原文用FTIR、XRD、氢谱等确认结构。DFT给出ANQ周围更有利的局域电势分布，以及2.49eV的HOMO–LUMO间隙，相比MNQ的2.74eV更窄。作者将其解释为静电漏斗引导锌离子接近反应中心。注意电势图和轨道间隙属于计算证据，不是直接拍到了离子迁移；实际反应还需要谱学检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【来源与证据定位】</a:t>
            </a:r>
          </a:p>
          <a:p xmlns:a="http://schemas.openxmlformats.org/drawingml/2006/main">
            <a:r>
              <a:t>P1:anq-synthesis: Tailored Electronegativity-Driven Naphthoquinone-Based Cathodes With Boosted Active Sites for High-Performance Aqueous Zinc-Organic Batteries; Advanced Functional Materials 2026, e76927; DOI:10.1002/adfm.76927; PDF第4页 Fig.1a</a:t>
            </a:r>
          </a:p>
          <a:p xmlns:a="http://schemas.openxmlformats.org/drawingml/2006/main">
            <a:r>
              <a:t>P1:anq-mesp: Tailored Electronegativity-Driven Naphthoquinone-Based Cathodes With Boosted Active Sites for High-Performance Aqueous Zinc-Organic Batteries; Advanced Functional Materials 2026, e76927; DOI:10.1002/adfm.76927; PDF第9页 Fig.5a</a:t>
            </a:r>
          </a:p>
          <a:p xmlns:a="http://schemas.openxmlformats.org/drawingml/2006/main">
            <a:r>
              <a:t>P1:anq-orbitals: Tailored Electronegativity-Driven Naphthoquinone-Based Cathodes With Boosted Active Sites for High-Performance Aqueous Zinc-Organic Batteries; Advanced Functional Materials 2026, e76927; DOI:10.1002/adfm.76927; PDF第9页 Fig.5e</a:t>
            </a:r>
          </a:p>
          <a:p xmlns:a="http://schemas.openxmlformats.org/drawingml/2006/main">
            <a:r>
              <a:t>P1:Fig1: Tailored Electronegativity-Driven Naphthoquinone-Based Cathodes With Boosted Active Sites for High-Performance Aqueous Zinc-Organic Batteries; Advanced Functional Materials 2026, e76927; DOI:10.1002/adfm.76927; PDF第4页 Fig1</a:t>
            </a:r>
          </a:p>
          <a:p xmlns:a="http://schemas.openxmlformats.org/drawingml/2006/main">
            <a:r>
              <a:t>P1:Fig5: Tailored Electronegativity-Driven Naphthoquinone-Based Cathodes With Boosted Active Sites for High-Performance Aqueous Zinc-Organic Batteries; Advanced Functional Materials 2026, e76927; DOI:10.1002/adfm.76927; PDF第9页 Fig5</a:t>
            </a:r>
          </a:p>
          <a:p xmlns:a="http://schemas.openxmlformats.org/drawingml/2006/main">
            <a:r>
              <a:t>【结构说明】按用户指定12页编排，覆盖技能默认分篇信息页/目录/结束页。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为0.05A/g时，ANQ和MNQ分别报告236.6与192.1mAh/g。需要注意ANQ测试窗为0.3–1.7V，MNQ为0.3–1.3V，不能把容量差完全归为桥联单因素。CV与GCD显示两组反应特征。放电时，FTIR的约1668cm负一次羰基信号减弱；O1s中C=O组分减弱、C–O增加，Zn2p增强，充电后变化可逆。这些共同支持羰基还原与锌配位。作者还报告50A/g下约155至160mAh/g及超过十万次循环，但主文不同段落的保持率存在约69%与78.4%的不一致，因此本稿不选择其中一个作为确定值。实验容量也高于四羰基简单理论容量，额外贡献的来源仍需更严格计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【来源与证据定位】</a:t>
            </a:r>
          </a:p>
          <a:p xmlns:a="http://schemas.openxmlformats.org/drawingml/2006/main">
            <a:r>
              <a:t>P1:anq-cv: Tailored Electronegativity-Driven Naphthoquinone-Based Cathodes With Boosted Active Sites for High-Performance Aqueous Zinc-Organic Batteries; Advanced Functional Materials 2026, e76927; DOI:10.1002/adfm.76927; PDF第5页 Fig.2a</a:t>
            </a:r>
          </a:p>
          <a:p xmlns:a="http://schemas.openxmlformats.org/drawingml/2006/main">
            <a:r>
              <a:t>P1:anq-gcd: Tailored Electronegativity-Driven Naphthoquinone-Based Cathodes With Boosted Active Sites for High-Performance Aqueous Zinc-Organic Batteries; Advanced Functional Materials 2026, e76927; DOI:10.1002/adfm.76927; PDF第5页 Fig.2b</a:t>
            </a:r>
          </a:p>
          <a:p xmlns:a="http://schemas.openxmlformats.org/drawingml/2006/main">
            <a:r>
              <a:t>P1:anq-ftir: Tailored Electronegativity-Driven Naphthoquinone-Based Cathodes With Boosted Active Sites for High-Performance Aqueous Zinc-Organic Batteries; Advanced Functional Materials 2026, e76927; DOI:10.1002/adfm.76927; PDF第8页 Fig.4a-b</a:t>
            </a:r>
          </a:p>
          <a:p xmlns:a="http://schemas.openxmlformats.org/drawingml/2006/main">
            <a:r>
              <a:t>P1:anq-xps: Tailored Electronegativity-Driven Naphthoquinone-Based Cathodes With Boosted Active Sites for High-Performance Aqueous Zinc-Organic Batteries; Advanced Functional Materials 2026, e76927; DOI:10.1002/adfm.76927; PDF第8页 Fig.4c-d</a:t>
            </a:r>
          </a:p>
          <a:p xmlns:a="http://schemas.openxmlformats.org/drawingml/2006/main">
            <a:r>
              <a:t>P1:Fig2: Tailored Electronegativity-Driven Naphthoquinone-Based Cathodes With Boosted Active Sites for High-Performance Aqueous Zinc-Organic Batteries; Advanced Functional Materials 2026, e76927; DOI:10.1002/adfm.76927; PDF第5页 Fig2</a:t>
            </a:r>
          </a:p>
          <a:p xmlns:a="http://schemas.openxmlformats.org/drawingml/2006/main">
            <a:r>
              <a:t>P1:Text: Tailored Electronegativity-Driven Naphthoquinone-Based Cathodes With Boosted Active Sites for High-Performance Aqueous Zinc-Organic Batteries; Advanced Functional Materials 2026, e76927; DOI:10.1002/adfm.76927; PDF第2页 Introduction; Results PDF3–10</a:t>
            </a:r>
          </a:p>
          <a:p xmlns:a="http://schemas.openxmlformats.org/drawingml/2006/main">
            <a:r>
              <a:t>【结构说明】按用户指定12页编排，覆盖技能默认分篇信息页/目录/结束页。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第二篇为ACS Nano的DOP，原文以PND与DDD缩合，并以较小的DTP为对照。DOP含有C=N以及NH相关中心。作者希望通过扩展含氮共轭降低溶解，并增加可参与反应的中心。循环过程的原位UV–vis与电解液照片显示DOP体系没有出现明显新增吸收，相比前驱体PND更稳定；这不等价于绝对不溶。ESP和其他计算提示不同中心的电荷分布，FTIR和HRMS用于结构确认。DOP的溶解度较低，也意味着后续若合成类似骨架，常规溶液NMR可能受限，必须考虑固体谱学和互补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【来源与证据定位】</a:t>
            </a:r>
          </a:p>
          <a:p xmlns:a="http://schemas.openxmlformats.org/drawingml/2006/main">
            <a:r>
              <a:t>P2:dop-structure: High-Performance Bipolar Small-Molecule Organic Cathode for Wide-Temperature-Range Aqueous Zinc-Ion Batteries; ACS Nano 2025, 19, 14249–14261; DOI:10.1021/acsnano.5c00833; PDF第2页 Figure1a, DTP/DOP structural formulas</a:t>
            </a:r>
          </a:p>
          <a:p xmlns:a="http://schemas.openxmlformats.org/drawingml/2006/main">
            <a:r>
              <a:t>P2:dop-dissolution: High-Performance Bipolar Small-Molecule Organic Cathode for Wide-Temperature-Range Aqueous Zinc-Ion Batteries; ACS Nano 2025, 19, 14249–14261; DOI:10.1021/acsnano.5c00833; PDF第2页 Figure1e,f, cycling images and in-situ UV-vis</a:t>
            </a:r>
          </a:p>
          <a:p xmlns:a="http://schemas.openxmlformats.org/drawingml/2006/main">
            <a:r>
              <a:t>P2:dop-esp: High-Performance Bipolar Small-Molecule Organic Cathode for Wide-Temperature-Range Aqueous Zinc-Ion Batteries; ACS Nano 2025, 19, 14249–14261; DOI:10.1021/acsnano.5c00833; PDF第4页 Figure2b, ESP maps with color scale</a:t>
            </a:r>
          </a:p>
          <a:p xmlns:a="http://schemas.openxmlformats.org/drawingml/2006/main">
            <a:r>
              <a:t>P2:Fig1: High-Performance Bipolar Small-Molecule Organic Cathode for Wide-Temperature-Range Aqueous Zinc-Ion Batteries; ACS Nano 2025, 19, 14249–14261; DOI:10.1021/acsnano.5c00833; PDF第2页 Figure 1, printed page 14250</a:t>
            </a:r>
          </a:p>
          <a:p xmlns:a="http://schemas.openxmlformats.org/drawingml/2006/main">
            <a:r>
              <a:t>P2:Setup: High-Performance Bipolar Small-Molecule Organic Cathode for Wide-Temperature-Range Aqueous Zinc-Ion Batteries; ACS Nano 2025, 19, 14249–14261; DOI:10.1021/acsnano.5c00833; PDF第10页 Experimental Section, Electrochemical Measurements</a:t>
            </a:r>
          </a:p>
          <a:p xmlns:a="http://schemas.openxmlformats.org/drawingml/2006/main">
            <a:r>
              <a:t>【结构说明】按用户指定12页编排，覆盖技能默认分篇信息页/目录/结束页。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DOP室温扣式电池在0.05A/g报告360mAh/g，在20A/g仍有163mAh/g。长循环是在10A/g下三万次后保持67%，而不是把360mAh/g保持三万次。宽温测试在0.2A/g下，50摄氏度报告312，负50摄氏度报告172mAh/g。电解液为2M Zn(ClO4)2，常规电压窗0.3–1.5V，负载约1.5mg/cm²，长循环及低温测试前有室温0.2A/g五圈活化。这些条件说明结果具有明确协议边界。高倍率能力、低温反应和材料稳定性值得关注，但不能直接外推到高载量或完整电池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【来源与证据定位】</a:t>
            </a:r>
          </a:p>
          <a:p xmlns:a="http://schemas.openxmlformats.org/drawingml/2006/main">
            <a:r>
              <a:t>P2:dop-rate-gcd: High-Performance Bipolar Small-Molecule Organic Cathode for Wide-Temperature-Range Aqueous Zinc-Ion Batteries; ACS Nano 2025, 19, 14249–14261; DOI:10.1021/acsnano.5c00833; PDF第5页 Figure3b,c, rate and GCD</a:t>
            </a:r>
          </a:p>
          <a:p xmlns:a="http://schemas.openxmlformats.org/drawingml/2006/main">
            <a:r>
              <a:t>P2:dop-longcycle: High-Performance Bipolar Small-Molecule Organic Cathode for Wide-Temperature-Range Aqueous Zinc-Ion Batteries; ACS Nano 2025, 19, 14249–14261; DOI:10.1021/acsnano.5c00833; PDF第5页 Figure3f, 10A/g30000cycles</a:t>
            </a:r>
          </a:p>
          <a:p xmlns:a="http://schemas.openxmlformats.org/drawingml/2006/main">
            <a:r>
              <a:t>P2:dop-temperature: High-Performance Bipolar Small-Molecule Organic Cathode for Wide-Temperature-Range Aqueous Zinc-Ion Batteries; ACS Nano 2025, 19, 14249–14261; DOI:10.1021/acsnano.5c00833; PDF第9页 Figure6b, 0.2A/g wide-temperature rate sequence</a:t>
            </a:r>
          </a:p>
          <a:p xmlns:a="http://schemas.openxmlformats.org/drawingml/2006/main">
            <a:r>
              <a:t>P2:Setup: High-Performance Bipolar Small-Molecule Organic Cathode for Wide-Temperature-Range Aqueous Zinc-Ion Batteries; ACS Nano 2025, 19, 14249–14261; DOI:10.1021/acsnano.5c00833; PDF第10页 Experimental Section, Electrochemical Measurements</a:t>
            </a:r>
          </a:p>
          <a:p xmlns:a="http://schemas.openxmlformats.org/drawingml/2006/main">
            <a:r>
              <a:t>P2:PerformanceText: High-Performance Bipolar Small-Molecule Organic Cathode for Wide-Temperature-Range Aqueous Zinc-Ion Batteries; ACS Nano 2025, 19, 14249–14261; DOI:10.1021/acsnano.5c00833; PDF第7页 Electrochemical Performance, PDF7; Fig3</a:t>
            </a:r>
          </a:p>
          <a:p xmlns:a="http://schemas.openxmlformats.org/drawingml/2006/main">
            <a:r>
              <a:t>【结构说明】按用户指定12页编排，覆盖技能默认分篇信息页/目录/结束页。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P的中性结构是作者反应图中的中间状态。由高充电态放电时，NH相关正电中心还原、ClO4阴离子释放，同时可能已开始阳离子存储；进一步放电，C=N还原并与Zn2+或H+耦合。充电时相反。Raman中C=N约1551cm负一次信号与C–N约1322cm负一次变化相反，ClO4约622cm负一次信号充电增强、放电减弱。Zn和Cl的XPS变化、FTIR及EQCM提供交叉支持。作者图5k明确提出n型6e与p型2e，总8e模型，但这里的A+符号同时代表Zn2+/H+，不能据此说每分子固定结合六个锌。各离子的容量贡献及反应重叠仍有待定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【来源与证据定位】</a:t>
            </a:r>
          </a:p>
          <a:p xmlns:a="http://schemas.openxmlformats.org/drawingml/2006/main">
            <a:r>
              <a:t>P2:dop-reaction: High-Performance Bipolar Small-Molecule Organic Cathode for Wide-Temperature-Range Aqueous Zinc-Ion Batteries; ACS Nano 2025, 19, 14249–14261; DOI:10.1021/acsnano.5c00833; PDF第7页 Figure5k, authors proposed 2e p-type plus6e n-type reaction model</a:t>
            </a:r>
          </a:p>
          <a:p xmlns:a="http://schemas.openxmlformats.org/drawingml/2006/main">
            <a:r>
              <a:t>P2:dop-raman-ir: High-Performance Bipolar Small-Molecule Organic Cathode for Wide-Temperature-Range Aqueous Zinc-Ion Batteries; ACS Nano 2025, 19, 14249–14261; DOI:10.1021/acsnano.5c00833; PDF第7页 Figure5a–d, Raman and operando FTIR</a:t>
            </a:r>
          </a:p>
          <a:p xmlns:a="http://schemas.openxmlformats.org/drawingml/2006/main">
            <a:r>
              <a:t>P2:dop-xps: High-Performance Bipolar Small-Molecule Organic Cathode for Wide-Temperature-Range Aqueous Zinc-Ion Batteries; ACS Nano 2025, 19, 14249–14261; DOI:10.1021/acsnano.5c00833; PDF第7页 Figure5e,f, Zn2p/Cl2p ex-situ XPS</a:t>
            </a:r>
          </a:p>
          <a:p xmlns:a="http://schemas.openxmlformats.org/drawingml/2006/main">
            <a:r>
              <a:t>P2:MechanismText: High-Performance Bipolar Small-Molecule Organic Cathode for Wide-Temperature-Range Aqueous Zinc-Ion Batteries; ACS Nano 2025, 19, 14249–14261; DOI:10.1021/acsnano.5c00833; PDF第8页 Charge Storage Mechanism, PDF8–9</a:t>
            </a:r>
          </a:p>
          <a:p xmlns:a="http://schemas.openxmlformats.org/drawingml/2006/main">
            <a:r>
              <a:t>P2:Fig5: High-Performance Bipolar Small-Molecule Organic Cathode for Wide-Temperature-Range Aqueous Zinc-Ion Batteries; ACS Nano 2025, 19, 14249–14261; DOI:10.1021/acsnano.5c00833; PDF第7页 Figure 5, printed page 14255</a:t>
            </a:r>
          </a:p>
          <a:p xmlns:a="http://schemas.openxmlformats.org/drawingml/2006/main">
            <a:r>
              <a:t>【结构说明】按用户指定12页编排，覆盖技能默认分篇信息页/目录/结束页。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第三篇为CEJ的BTAQX，其原文标题强调阴离子主导的高电压有机正极，并不是刚才ACS Nano的DOP论文。合成原料DCQX是2,3-二氯喹喔啉，DAB为3,3′-二氨基联苯胺，不能按上传文件名理解为二氯哌嗪。结构图标示120摄氏度回流五小时。BTAQX//Zn在1M Zn(OTF)2、0.05A/g下报告157.8mAh/g，工作电压约1.10V，200圈后保持96.7%。OTF为三氟甲磺酸根CF3SO3负离子。与DOP比较，核心差异不是简单多几个N，而是实际参与氧化还原的中心、电解液及电荷补偿路径。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【来源与证据定位】</a:t>
            </a:r>
          </a:p>
          <a:p xmlns:a="http://schemas.openxmlformats.org/drawingml/2006/main">
            <a:r>
              <a:t>P3:Fig1a: High-voltage organic cathodes dominated by anion intercalation for all-organic aqueous zinc-ion battery; Chemical Engineering Journal 2025, 524, 169407; DOI:10.1016/j.cej.2025.169407; PDF第2页 Fig.1a</a:t>
            </a:r>
          </a:p>
          <a:p xmlns:a="http://schemas.openxmlformats.org/drawingml/2006/main">
            <a:r>
              <a:t>P3:Fig4bc: High-voltage organic cathodes dominated by anion intercalation for all-organic aqueous zinc-ion battery; Chemical Engineering Journal 2025, 524, 169407; DOI:10.1016/j.cej.2025.169407; PDF第5页 Fig.4b-c</a:t>
            </a:r>
          </a:p>
          <a:p xmlns:a="http://schemas.openxmlformats.org/drawingml/2006/main">
            <a:r>
              <a:t>P3:Text: High-voltage organic cathodes dominated by anion intercalation for all-organic aqueous zinc-ion battery; Chemical Engineering Journal 2025, 524, 169407; DOI:10.1016/j.cej.2025.169407; PDF第6页 Results PDF4–7</a:t>
            </a:r>
          </a:p>
          <a:p xmlns:a="http://schemas.openxmlformats.org/drawingml/2006/main">
            <a:r>
              <a:t>P3:Fig1: High-voltage organic cathodes dominated by anion intercalation for all-organic aqueous zinc-ion battery; Chemical Engineering Journal 2025, 524, 169407; DOI:10.1016/j.cej.2025.169407; PDF第2页 Fig.1</a:t>
            </a:r>
          </a:p>
          <a:p xmlns:a="http://schemas.openxmlformats.org/drawingml/2006/main">
            <a:r>
              <a:t>【结构说明】按用户指定12页编排，覆盖技能默认分篇信息页/目录/结束页。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可直接观察的谱学事实。充电到1.8V，N1s出现作者拟合的氧化态组分，S2p出现与OTF相关的峰；放电到0.1V后减弱。主文原位FTIR中OTF相关的SO3与CF3振动也在充电增强、放电减弱。作者据此解释为NH相关中心被氧化后吸附阴离子补偿电荷，放电还原并释放阴离子，提出四电子四OTF模型并用DFT支持逐步结合。谱学能够支持N中心变化和阴离子参与，但不能逐个位点直接确定四个NH的每一步计量。主文N1s还包含C=N正电组分，所以本稿不宣称C=N绝对不参与，也不宣称完全排除锌或质子贡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【来源与证据定位】</a:t>
            </a:r>
          </a:p>
          <a:p xmlns:a="http://schemas.openxmlformats.org/drawingml/2006/main">
            <a:r>
              <a:t>P3:Fig2g: High-voltage organic cathodes dominated by anion intercalation for all-organic aqueous zinc-ion battery; Chemical Engineering Journal 2025, 524, 169407; DOI:10.1016/j.cej.2025.169407; PDF第3页 Fig.2g</a:t>
            </a:r>
          </a:p>
          <a:p xmlns:a="http://schemas.openxmlformats.org/drawingml/2006/main">
            <a:r>
              <a:t>P3:Fig2de: High-voltage organic cathodes dominated by anion intercalation for all-organic aqueous zinc-ion battery; Chemical Engineering Journal 2025, 524, 169407; DOI:10.1016/j.cej.2025.169407; PDF第3页 Fig.2d-e</a:t>
            </a:r>
          </a:p>
          <a:p xmlns:a="http://schemas.openxmlformats.org/drawingml/2006/main">
            <a:r>
              <a:t>P3:Fig2: High-voltage organic cathodes dominated by anion intercalation for all-organic aqueous zinc-ion battery; Chemical Engineering Journal 2025, 524, 169407; DOI:10.1016/j.cej.2025.169407; PDF第3页 Fig.2</a:t>
            </a:r>
          </a:p>
          <a:p xmlns:a="http://schemas.openxmlformats.org/drawingml/2006/main">
            <a:r>
              <a:t>P3:Text: High-voltage organic cathodes dominated by anion intercalation for all-organic aqueous zinc-ion battery; Chemical Engineering Journal 2025, 524, 169407; DOI:10.1016/j.cej.2025.169407; PDF第6页 Results PDF4–7</a:t>
            </a:r>
          </a:p>
          <a:p xmlns:a="http://schemas.openxmlformats.org/drawingml/2006/main">
            <a:r>
              <a:t>P3:btaqx-ftir: High-voltage organic cathodes dominated by anion intercalation for all-organic aqueous zinc-ion battery; Chemical Engineering Journal 2025, 524, 169407; DOI:10.1016/j.cej.2025.169407; PDF第3页 Fig.2a-b</a:t>
            </a:r>
          </a:p>
          <a:p xmlns:a="http://schemas.openxmlformats.org/drawingml/2006/main">
            <a:r>
              <a:t>【结构说明】按用户指定12页编排，覆盖技能默认分篇信息页/目录/结束页。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篇工作的共同点是通过分子结构设计改变反应，而不只是增加红氧活性官能团。ANQ/MNQ提示同样的羰基也会因桥联和构象改变可及性；DOP提示含氮共轭延伸可以同时影响溶解及阳阴离子共同反应；BTAQX提示合适的氧化中心与阴离子配合可提高工作电压。236.6、360和157.8mAh/g虽都在0.05A/g报告，但电解液、窗口、分子量和配方不同，不能排出一张简单的优劣榜。对我们的启发是：确定骨架后，一次优先改变一个结构维度，同时记录溶解、电位、可逆容量和谱学变化，用证据链验证结构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【来源与证据定位】</a:t>
            </a:r>
          </a:p>
          <a:p xmlns:a="http://schemas.openxmlformats.org/drawingml/2006/main">
            <a:r>
              <a:t>P1:Fig1: Tailored Electronegativity-Driven Naphthoquinone-Based Cathodes With Boosted Active Sites for High-Performance Aqueous Zinc-Organic Batteries; Advanced Functional Materials 2026, e76927; DOI:10.1002/adfm.76927; PDF第4页 Fig1</a:t>
            </a:r>
          </a:p>
          <a:p xmlns:a="http://schemas.openxmlformats.org/drawingml/2006/main">
            <a:r>
              <a:t>P1:Fig2: Tailored Electronegativity-Driven Naphthoquinone-Based Cathodes With Boosted Active Sites for High-Performance Aqueous Zinc-Organic Batteries; Advanced Functional Materials 2026, e76927; DOI:10.1002/adfm.76927; PDF第5页 Fig2</a:t>
            </a:r>
          </a:p>
          <a:p xmlns:a="http://schemas.openxmlformats.org/drawingml/2006/main">
            <a:r>
              <a:t>P1:Fig4: Tailored Electronegativity-Driven Naphthoquinone-Based Cathodes With Boosted Active Sites for High-Performance Aqueous Zinc-Organic Batteries; Advanced Functional Materials 2026, e76927; DOI:10.1002/adfm.76927; PDF第8页 Fig4</a:t>
            </a:r>
          </a:p>
          <a:p xmlns:a="http://schemas.openxmlformats.org/drawingml/2006/main">
            <a:r>
              <a:t>P1:Fig5: Tailored Electronegativity-Driven Naphthoquinone-Based Cathodes With Boosted Active Sites for High-Performance Aqueous Zinc-Organic Batteries; Advanced Functional Materials 2026, e76927; DOI:10.1002/adfm.76927; PDF第9页 Fig5</a:t>
            </a:r>
          </a:p>
          <a:p xmlns:a="http://schemas.openxmlformats.org/drawingml/2006/main">
            <a:r>
              <a:t>P2:Fig1: High-Performance Bipolar Small-Molecule Organic Cathode for Wide-Temperature-Range Aqueous Zinc-Ion Batteries; ACS Nano 2025, 19, 14249–14261; DOI:10.1021/acsnano.5c00833; PDF第2页 Figure 1, printed page 14250</a:t>
            </a:r>
          </a:p>
          <a:p xmlns:a="http://schemas.openxmlformats.org/drawingml/2006/main">
            <a:r>
              <a:t>P2:Fig3: High-Performance Bipolar Small-Molecule Organic Cathode for Wide-Temperature-Range Aqueous Zinc-Ion Batteries; ACS Nano 2025, 19, 14249–14261; DOI:10.1021/acsnano.5c00833; PDF第5页 Figure 3, printed page 14253</a:t>
            </a:r>
          </a:p>
          <a:p xmlns:a="http://schemas.openxmlformats.org/drawingml/2006/main">
            <a:r>
              <a:t>P2:Fig5: High-Performance Bipolar Small-Molecule Organic Cathode for Wide-Temperature-Range Aqueous Zinc-Ion Batteries; ACS Nano 2025, 19, 14249–14261; DOI:10.1021/acsnano.5c00833; PDF第7页 Figure 5, printed page 14255</a:t>
            </a:r>
          </a:p>
          <a:p xmlns:a="http://schemas.openxmlformats.org/drawingml/2006/main">
            <a:r>
              <a:t>P3:Fig1: High-voltage organic cathodes dominated by anion intercalation for all-organic aqueous zinc-ion battery; Chemical Engineering Journal 2025, 524, 169407; DOI:10.1016/j.cej.2025.169407; PDF第2页 Fig.1</a:t>
            </a:r>
          </a:p>
          <a:p xmlns:a="http://schemas.openxmlformats.org/drawingml/2006/main">
            <a:r>
              <a:t>P3:Fig2: High-voltage organic cathodes dominated by anion intercalation for all-organic aqueous zinc-ion battery; Chemical Engineering Journal 2025, 524, 169407; DOI:10.1016/j.cej.2025.169407; PDF第3页 Fig.2</a:t>
            </a:r>
          </a:p>
          <a:p xmlns:a="http://schemas.openxmlformats.org/drawingml/2006/main">
            <a:r>
              <a:t>P3:Fig4: High-voltage organic cathodes dominated by anion intercalation for all-organic aqueous zinc-ion battery; Chemical Engineering Journal 2025, 524, 169407; DOI:10.1016/j.cej.2025.169407; PDF第5页 Fig.4</a:t>
            </a:r>
          </a:p>
          <a:p xmlns:a="http://schemas.openxmlformats.org/drawingml/2006/main">
            <a:r>
              <a:t>【结构说明】按用户指定12页编排，覆盖技能默认分篇信息页/目录/结束页。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下全部是拟开展实验，没有已有结果。主路线选择1,4-萘醌与芳香二胺形成的双萘醌系列，先复现硫醚和二硫桥两个已报道参照，再筛选O或CH2桥联二胺，尽量保持两个萘醌及位点数相同。先补取原论文SI，核实投料、溶剂及纯化条件，再小试、纯化，用NMR、HRMS及FTIR确认；若溶解度低使溶液NMR不适用，采用固体NMR或其他互补证据，不能把缺少峰当成纯度证明。电极统一载量、活性物比例、碳与粘结剂、窗口和电解液，至少三个独立电池，配置NQ单体与纯导电碳空白。做CV、GCD、倍率、循环、EIS，必要时GITT，同时测标准化浸泡/循环UV–vis。取原始、放电和充电电极，标准化清洗、转移后进行XPS/FTIR，判断位点可逆变化。首个探索方向是在同一桥联骨架上改变给吸电子取代基，观察电位与溶解权衡；第二个是NH位点骨架的阴离子对照，需控制锌浓度、pH、电导、含水量及电压窗口。位点封闭会同时改变共轭，不能当成完美单变量对照。高氯酸盐等体系须先做既有实验室条件下的兼容性评估。阶段决策是：若性能提高却伴随碳贡献或溶解变化，先分离解释；若失效来自锌负极，则增加正极再组装与负极诊断，避免误归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【来源与证据定位】</a:t>
            </a:r>
          </a:p>
          <a:p xmlns:a="http://schemas.openxmlformats.org/drawingml/2006/main">
            <a:r>
              <a:t>P1:Fig1: Tailored Electronegativity-Driven Naphthoquinone-Based Cathodes With Boosted Active Sites for High-Performance Aqueous Zinc-Organic Batteries; Advanced Functional Materials 2026, e76927; DOI:10.1002/adfm.76927; PDF第4页 Fig1</a:t>
            </a:r>
          </a:p>
          <a:p xmlns:a="http://schemas.openxmlformats.org/drawingml/2006/main">
            <a:r>
              <a:t>P1:Fig4: Tailored Electronegativity-Driven Naphthoquinone-Based Cathodes With Boosted Active Sites for High-Performance Aqueous Zinc-Organic Batteries; Advanced Functional Materials 2026, e76927; DOI:10.1002/adfm.76927; PDF第8页 Fig4</a:t>
            </a:r>
          </a:p>
          <a:p xmlns:a="http://schemas.openxmlformats.org/drawingml/2006/main">
            <a:r>
              <a:t>P1:Fig5: Tailored Electronegativity-Driven Naphthoquinone-Based Cathodes With Boosted Active Sites for High-Performance Aqueous Zinc-Organic Batteries; Advanced Functional Materials 2026, e76927; DOI:10.1002/adfm.76927; PDF第9页 Fig5</a:t>
            </a:r>
          </a:p>
          <a:p xmlns:a="http://schemas.openxmlformats.org/drawingml/2006/main">
            <a:r>
              <a:t>P2:Fig1: High-Performance Bipolar Small-Molecule Organic Cathode for Wide-Temperature-Range Aqueous Zinc-Ion Batteries; ACS Nano 2025, 19, 14249–14261; DOI:10.1021/acsnano.5c00833; PDF第2页 Figure 1, printed page 14250</a:t>
            </a:r>
          </a:p>
          <a:p xmlns:a="http://schemas.openxmlformats.org/drawingml/2006/main">
            <a:r>
              <a:t>P2:Fig5: High-Performance Bipolar Small-Molecule Organic Cathode for Wide-Temperature-Range Aqueous Zinc-Ion Batteries; ACS Nano 2025, 19, 14249–14261; DOI:10.1021/acsnano.5c00833; PDF第7页 Figure 5, printed page 14255</a:t>
            </a:r>
          </a:p>
          <a:p xmlns:a="http://schemas.openxmlformats.org/drawingml/2006/main">
            <a:r>
              <a:t>P3:Fig1: High-voltage organic cathodes dominated by anion intercalation for all-organic aqueous zinc-ion battery; Chemical Engineering Journal 2025, 524, 169407; DOI:10.1016/j.cej.2025.169407; PDF第2页 Fig.1</a:t>
            </a:r>
          </a:p>
          <a:p xmlns:a="http://schemas.openxmlformats.org/drawingml/2006/main">
            <a:r>
              <a:t>P3:Fig2: High-voltage organic cathodes dominated by anion intercalation for all-organic aqueous zinc-ion battery; Chemical Engineering Journal 2025, 524, 169407; DOI:10.1016/j.cej.2025.169407; PDF第3页 Fig.2</a:t>
            </a:r>
          </a:p>
          <a:p xmlns:a="http://schemas.openxmlformats.org/drawingml/2006/main">
            <a:r>
              <a:t>【结构说明】按用户指定12页编排，覆盖技能默认分篇信息页/目录/结束页。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c5888cc364409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acc17908774df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2bfe4a74a44aa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4a3ce4d82b418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4378482bd1454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299722fc004a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E5A331-C325-4D7C-9544-ADCA0559E5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1A9F06F-93AD-4A27-A1D4-DD7150541C1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D7F8AF2-C8B7-4D0D-BD9E-251AAA577A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4C8339-E2C7-48CD-8577-2E5A33FF93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AA450DE-CA0B-4D76-B613-C9F1265AB2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2A233BB-31AE-4AF1-A999-8A6E925CCE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F68266C-AC8A-4900-BB49-8EF876E3C4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2269D07-D094-43A4-A382-A27E7388445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70D34C-8138-47EE-A6DF-A173373C65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9907C53-AEB9-4547-9620-635B8EA363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7efb261d064f17" /><Relationship Type="http://schemas.openxmlformats.org/officeDocument/2006/relationships/slideLayout" Target="/ppt/slideLayouts/slideLayout1.xml" Id="R2d5341df2e794cd4" /><Relationship Type="http://schemas.openxmlformats.org/officeDocument/2006/relationships/slideLayout" Target="/ppt/slideLayouts/slideLayout2.xml" Id="R252bfe1fd55c435c" /><Relationship Type="http://schemas.openxmlformats.org/officeDocument/2006/relationships/slideLayout" Target="/ppt/slideLayouts/slideLayout3.xml" Id="R80378b5d405c46d4" /><Relationship Type="http://schemas.openxmlformats.org/officeDocument/2006/relationships/slideLayout" Target="/ppt/slideLayouts/slideLayout4.xml" Id="Rbd745405cc624bd6" /><Relationship Type="http://schemas.openxmlformats.org/officeDocument/2006/relationships/slideLayout" Target="/ppt/slideLayouts/slideLayout5.xml" Id="R8ad2d2de4ae44f50" /><Relationship Type="http://schemas.openxmlformats.org/officeDocument/2006/relationships/slideLayout" Target="/ppt/slideLayouts/slideLayout6.xml" Id="R2faf92fff0ce4b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5341df2e794cd4"/>
    <p:sldLayoutId xmlns:r="http://schemas.openxmlformats.org/officeDocument/2006/relationships" id="2147483650" r:id="R252bfe1fd55c435c"/>
    <p:sldLayoutId xmlns:r="http://schemas.openxmlformats.org/officeDocument/2006/relationships" id="2147483651" r:id="R80378b5d405c46d4"/>
    <p:sldLayoutId xmlns:r="http://schemas.openxmlformats.org/officeDocument/2006/relationships" id="2147483652" r:id="Rbd745405cc624bd6"/>
    <p:sldLayoutId xmlns:r="http://schemas.openxmlformats.org/officeDocument/2006/relationships" id="2147483653" r:id="R8ad2d2de4ae44f50"/>
    <p:sldLayoutId xmlns:r="http://schemas.openxmlformats.org/officeDocument/2006/relationships" id="2147483654" r:id="R2faf92fff0ce4b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b023779908484f" /><Relationship Type="http://schemas.openxmlformats.org/officeDocument/2006/relationships/notesSlide" Target="/ppt/notesSlides/notesSlide1.xml" Id="Rb442d44380874a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9d10319c9d45e2" /><Relationship Type="http://schemas.openxmlformats.org/officeDocument/2006/relationships/notesSlide" Target="/ppt/notesSlides/notesSlide2.xml" Id="Rc6c30d049e9b49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f6232775224c4a" /><Relationship Type="http://schemas.openxmlformats.org/officeDocument/2006/relationships/notesSlide" Target="/ppt/notesSlides/notesSlide3.xml" Id="Rdbb9a3891f0f45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1540e5a1e04276" /><Relationship Type="http://schemas.openxmlformats.org/officeDocument/2006/relationships/image" Target="/ppt/media/image.png" Id="R9525bbac106d408d" /><Relationship Type="http://schemas.openxmlformats.org/officeDocument/2006/relationships/image" Target="/ppt/media/image2.png" Id="R8e0086b185e14b76" /><Relationship Type="http://schemas.openxmlformats.org/officeDocument/2006/relationships/notesSlide" Target="/ppt/notesSlides/notesSlide4.xml" Id="Rd238e8b4fbdd4c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d58104247a4a51" /><Relationship Type="http://schemas.openxmlformats.org/officeDocument/2006/relationships/image" Target="/ppt/media/image3.png" Id="Rc089df1797064712" /><Relationship Type="http://schemas.openxmlformats.org/officeDocument/2006/relationships/image" Target="/ppt/media/image4.png" Id="Re32fb94360984b17" /><Relationship Type="http://schemas.openxmlformats.org/officeDocument/2006/relationships/image" Target="/ppt/media/image5.png" Id="Rff4f553d075d4776" /><Relationship Type="http://schemas.openxmlformats.org/officeDocument/2006/relationships/image" Target="/ppt/media/image6.png" Id="Rf7feee4c95ef42a5" /><Relationship Type="http://schemas.openxmlformats.org/officeDocument/2006/relationships/notesSlide" Target="/ppt/notesSlides/notesSlide5.xml" Id="R8486a1fa3d5d4d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57e4ce2eb9490a" /><Relationship Type="http://schemas.openxmlformats.org/officeDocument/2006/relationships/image" Target="/ppt/media/image7.png" Id="Rd78f10ac0b6f4445" /><Relationship Type="http://schemas.openxmlformats.org/officeDocument/2006/relationships/image" Target="/ppt/media/image8.png" Id="R00240061b9df47c4" /><Relationship Type="http://schemas.openxmlformats.org/officeDocument/2006/relationships/notesSlide" Target="/ppt/notesSlides/notesSlide6.xml" Id="R7dc9ea98486844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ae176874ad4cb1" /><Relationship Type="http://schemas.openxmlformats.org/officeDocument/2006/relationships/image" Target="/ppt/media/image9.png" Id="Rb9bbadf2e6ac4358" /><Relationship Type="http://schemas.openxmlformats.org/officeDocument/2006/relationships/image" Target="/ppt/media/image10.png" Id="R00f8af85175246a6" /><Relationship Type="http://schemas.openxmlformats.org/officeDocument/2006/relationships/notesSlide" Target="/ppt/notesSlides/notesSlide7.xml" Id="R5c3a9ca6a19841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48714053994848" /><Relationship Type="http://schemas.openxmlformats.org/officeDocument/2006/relationships/image" Target="/ppt/media/image11.png" Id="R32152e29cde2499d" /><Relationship Type="http://schemas.openxmlformats.org/officeDocument/2006/relationships/image" Target="/ppt/media/image12.png" Id="R655a8fd2d04b4f6f" /><Relationship Type="http://schemas.openxmlformats.org/officeDocument/2006/relationships/image" Target="/ppt/media/image13.png" Id="Ra0d8c61866694791" /><Relationship Type="http://schemas.openxmlformats.org/officeDocument/2006/relationships/notesSlide" Target="/ppt/notesSlides/notesSlide8.xml" Id="Re68a524bda62469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7f0bd1d7ca460b" /><Relationship Type="http://schemas.openxmlformats.org/officeDocument/2006/relationships/image" Target="/ppt/media/image14.png" Id="R719875804c3c478c" /><Relationship Type="http://schemas.openxmlformats.org/officeDocument/2006/relationships/image" Target="/ppt/media/image15.png" Id="R7f4c69afd3e24023" /><Relationship Type="http://schemas.openxmlformats.org/officeDocument/2006/relationships/notesSlide" Target="/ppt/notesSlides/notesSlide9.xml" Id="R8163753e949b43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9c8a3e29ec47ab" /><Relationship Type="http://schemas.openxmlformats.org/officeDocument/2006/relationships/image" Target="/ppt/media/image16.png" Id="R7c4521df740b45cf" /><Relationship Type="http://schemas.openxmlformats.org/officeDocument/2006/relationships/image" Target="/ppt/media/image17.png" Id="Rcf97ea6cf2054b85" /><Relationship Type="http://schemas.openxmlformats.org/officeDocument/2006/relationships/image" Target="/ppt/media/image18.png" Id="R7689f15829ab4fd0" /><Relationship Type="http://schemas.openxmlformats.org/officeDocument/2006/relationships/notesSlide" Target="/ppt/notesSlides/notesSlide10.xml" Id="R86840791ebfc46f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5669aef8594cc4" /><Relationship Type="http://schemas.openxmlformats.org/officeDocument/2006/relationships/notesSlide" Target="/ppt/notesSlides/notesSlide11.xml" Id="Rc80a36830a6e40f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3af3cbd02649f5" /><Relationship Type="http://schemas.openxmlformats.org/officeDocument/2006/relationships/notesSlide" Target="/ppt/notesSlides/notesSlide12.xml" Id="R674a3751c99f43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329F2C-7741-4739-A15B-373A0B08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49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7E361F-633D-4B63-A1A5-7D83D0F0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952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中文科研文献组会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3E5D5-79F3-4B59-B8A3-012E42BA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3350"/>
            <a:ext cx="3286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陈艺  ·  2026.11.01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C3E2D6-575A-46B8-B397-72274CEB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09625"/>
            <a:ext cx="11334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3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水系锌离子电池有机正极的</a:t>
            </a:r>
          </a:p>
          <a:p xmlns:a="http://schemas.openxmlformats.org/drawingml/2006/main">
            <a:pPr algn="l">
              <a:defRPr sz="33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分子结构调控与储能机制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156FC3-E983-4935-AA76-971DCE69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286000"/>
            <a:ext cx="1133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从羰基位点活化到双极性储能与阴离子存储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AB99DA-DA11-4F33-B93A-961EFD0B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24175"/>
            <a:ext cx="11391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9D71E0-9D01-4A50-8854-81964CA4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核心科学问题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3002A4-271B-4C6F-B4E1-CD259E41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95625"/>
            <a:ext cx="920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如何通过结构设计，调控活性位点、电子结构和离子存储方式？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DA6F72-0DA3-4D23-9948-7D68C5E6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361950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ANQ / MNQ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7A67F-FB02-4F32-AB22-AB34541C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43400"/>
            <a:ext cx="3638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羰基位点 · 硫桥电子调控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7FF98-11C2-4820-B5A8-2ECB83DD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05250"/>
            <a:ext cx="361950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DOP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3E3228-48AB-47FC-82E0-5CCF2782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343400"/>
            <a:ext cx="3638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C=N / —NH— · n/p 双极性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538A19-C766-47BE-94D4-B46C222F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05250"/>
            <a:ext cx="361950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BTAQX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2D4927-E019-48CE-A9A4-0E01D2D3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43400"/>
            <a:ext cx="3638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NH相关氧化中心 · OTF⁻存储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136781-63EA-46BA-8AB2-B98E25BC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095875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三篇论文分别提供互补证据；不推定作者之间存在直接技术继承。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A28CE8-2E88-4E8C-8812-AC3A0DB2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772150"/>
            <a:ext cx="11334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rPr>
              <a:t>文献：Advanced Functional Materials 2026 · ACS Nano 2025 · Chemical Engineering Journal 2025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985E8D-FAC0-4B96-9F0D-61750FE0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81750"/>
            <a:ext cx="1133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E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08B79D-CEC4-4767-BDAF-3E5BC931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05575"/>
            <a:ext cx="1133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rPr>
              <a:t>主线：分子骨架 / 活性位点 / 电子结构 / 离子路径 / 分子稳定性</a:t>
            </a:r>
          </a:p>
        </p:txBody>
      </p:sp>
    </p:spTree>
    <p:extLst>
      <p:ext uri="{BB962C8B-B14F-4D97-AF65-F5344CB8AC3E}">
        <p14:creationId xmlns:p14="http://schemas.microsoft.com/office/powerpoint/2010/main" val="14732547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0B8BFA-0A15-425A-9D8C-52EA884E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49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16D36F-8AB6-47A6-87D1-E05C9560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1166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  研究背景：性能改进需要回答哪些分子问题？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F5A6F-6868-4AE1-ABB6-8FF0BE22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334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核心问题：容量、电压、动力学与稳定性怎样同时兼顾？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AD4296-F11D-49F2-908E-75BA0320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162050"/>
            <a:ext cx="11658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A9A92A-AF3D-4552-9BC7-B961481C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352550"/>
            <a:ext cx="35242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C9DCE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78D960-ECC8-4B22-9BA5-D549E96E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352550"/>
            <a:ext cx="35242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E8A1D4-2000-41AE-AD5B-2EDE6E56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329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为什么选择水系锌电池？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8B3870-5FE2-4F0B-A17A-14FA67D4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62125"/>
            <a:ext cx="3209925" cy="3148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锌资源与成本潜力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B2427A-D95A-40C7-AD75-FEB7212B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9326"/>
            <a:ext cx="3209925" cy="3148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水系电解液非易燃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7A0001-094F-48C0-A7AF-34FCCD9D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96528"/>
            <a:ext cx="3209925" cy="3148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仍受负极副反应与窗口约束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55D01A-7485-45C2-800F-58BA4353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52550"/>
            <a:ext cx="79248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C9DC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84BC71-DCEB-4802-9058-227154C6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52550"/>
            <a:ext cx="7924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C364B1-4B86-40C4-A406-65784771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381125"/>
            <a:ext cx="769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有机分子提供可调的结构自由度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9FFB4F-6234-4BBD-9EE1-6B307A69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62125"/>
            <a:ext cx="7572375" cy="3148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骨架和取代基可调；C=O、C=N及NH相关中心提供不同反应路径。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E6E33D-0948-4175-BF8E-37825AFD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210276"/>
            <a:ext cx="7572375" cy="610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位点数、分子量和可逆参与程度共同影响容量；含N/O原子数不等于可逆电子数。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4BB0B6-AC89-4F82-B441-A5A88EF3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457575"/>
            <a:ext cx="5238750" cy="2390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C9DC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CBF5BF-E550-4775-BC45-2969EC2C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457575"/>
            <a:ext cx="52387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AF0506-4055-4E61-9A27-9F4E6C52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86150"/>
            <a:ext cx="501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需要同时处理的权衡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6ACF9F-903E-4361-A31E-CC40CF02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86200"/>
            <a:ext cx="4886325" cy="327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溶解：活性物损失与穿梭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29FB66-AFBE-4D33-984A-8A56E514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18635"/>
            <a:ext cx="4886325" cy="327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导电：电子迁移与倍率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7FE8B1-907D-4CB8-9EE7-BA4397A1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751070"/>
            <a:ext cx="4886325" cy="327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位点：可及性与可逆利用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511493-DD3C-45D8-83D6-BB286DF4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183505"/>
            <a:ext cx="4886325" cy="327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窗口：工作电压与副反应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30344E-BCBC-4563-B551-D00CBF20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57575"/>
            <a:ext cx="6191250" cy="2390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C9DCE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EC662F-105D-40C8-A5EB-E6612B71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57575"/>
            <a:ext cx="61912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5ACA28-FD5B-4BF6-BD41-5D403FFC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86150"/>
            <a:ext cx="596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本次采用的证据链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565293-FFC4-450F-9AC2-45B44282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86200"/>
            <a:ext cx="5848350" cy="3148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结构确认：分子图、NMR / HRMS / FTIR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C6DCA3-BFFB-460D-AB60-9CF43DEB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15301"/>
            <a:ext cx="5848350" cy="3148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性能评价：CV / GCD / 倍率 / 循环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F068FA-EA07-4001-B4FA-38A1E6D0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44403"/>
            <a:ext cx="5848350" cy="3148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反应归属：充放电谱学与离子对照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5FDE50-BCCB-4AD0-9E89-0C952B73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73504"/>
            <a:ext cx="5848350" cy="3148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边界判断：直接观察、作者解释、待验证假设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0B614D-7736-44EB-B03E-31DE33D0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086475"/>
            <a:ext cx="1165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E69B5B-C84F-4E7C-B873-D6797084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53150"/>
            <a:ext cx="11410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先区分“位点数增加”和“位点真正可逆参与反应”。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94F92F-1818-4B09-A727-A5D67C8B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81775"/>
            <a:ext cx="1133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rPr>
              <a:t>[P1] PDF1–3；[P2] Introduction/Fig.1；[P3] Introduction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2017BC-CEEE-4490-A6D4-9B6A1387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5436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856838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379658-04B0-46A5-ABB7-5EC2658D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49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62E105-0F98-443E-8370-228D5BAB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1166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  统一框架：结构调控、位点参与和离子路径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4648E1-ABD5-4E00-8D14-11A4F73E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334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三篇论文分别改变什么，依赖哪类证据？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860BF-BD23-499C-9261-22F20529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162050"/>
            <a:ext cx="11658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E8"/>
          </a:solidFill>
          <a:ln xmlns:a="http://schemas.openxmlformats.org/drawingml/2006/main" w="0">
            <a:noFill/>
          </a:ln>
        </p:spPr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37292A-5307-4A95-AC27-7E587D01521B}"/>
              </a:ext>
            </a:extLst>
          </p:cNvPr>
          <p:cNvGraphicFramePr/>
          <p:nvPr/>
        </p:nvGraphicFramePr>
        <p:xfrm>
          <a:off xmlns:a="http://schemas.openxmlformats.org/drawingml/2006/main" x="266700" y="1438275"/>
          <a:ext xmlns:a="http://schemas.openxmlformats.org/drawingml/2006/main" cx="11658600" cy="3400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2571750"/>
                <a:gridCol w="2000250"/>
                <a:gridCol w="2619375"/>
                <a:gridCol w="2847975"/>
              </a:tblGrid>
              <a:tr h="850106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材料</a:t>
                      </a:r>
                    </a:p>
                  </a:txBody>
                  <a:tcPr marL="114300" marR="114300" marT="95250" marB="76200" anchor="ctr">
                    <a:lnL w="6668">
                      <a:solidFill>
                        <a:srgbClr val="A9B6D0"/>
                      </a:solidFill>
                      <a:prstDash val="solid"/>
                    </a:lnL>
                    <a:lnR w="6668">
                      <a:solidFill>
                        <a:srgbClr val="A9B6D0"/>
                      </a:solidFill>
                      <a:prstDash val="solid"/>
                    </a:lnR>
                    <a:lnT w="6668">
                      <a:solidFill>
                        <a:srgbClr val="A9B6D0"/>
                      </a:solidFill>
                      <a:prstDash val="solid"/>
                    </a:lnT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3249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主要结构变量</a:t>
                      </a:r>
                    </a:p>
                  </a:txBody>
                  <a:tcPr marL="114300" marR="114300" marT="95250" marB="76200" anchor="ctr">
                    <a:lnR w="6668">
                      <a:solidFill>
                        <a:srgbClr val="A9B6D0"/>
                      </a:solidFill>
                      <a:prstDash val="solid"/>
                    </a:lnR>
                    <a:lnT w="6668">
                      <a:solidFill>
                        <a:srgbClr val="A9B6D0"/>
                      </a:solidFill>
                      <a:prstDash val="solid"/>
                    </a:lnT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3249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活性中心</a:t>
                      </a:r>
                    </a:p>
                  </a:txBody>
                  <a:tcPr marL="114300" marR="114300" marT="95250" marB="76200" anchor="ctr">
                    <a:lnR w="6668">
                      <a:solidFill>
                        <a:srgbClr val="A9B6D0"/>
                      </a:solidFill>
                      <a:prstDash val="solid"/>
                    </a:lnR>
                    <a:lnT w="6668">
                      <a:solidFill>
                        <a:srgbClr val="A9B6D0"/>
                      </a:solidFill>
                      <a:prstDash val="solid"/>
                    </a:lnT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3249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离子路径</a:t>
                      </a:r>
                    </a:p>
                  </a:txBody>
                  <a:tcPr marL="114300" marR="114300" marT="95250" marB="76200" anchor="ctr">
                    <a:lnR w="6668">
                      <a:solidFill>
                        <a:srgbClr val="A9B6D0"/>
                      </a:solidFill>
                      <a:prstDash val="solid"/>
                    </a:lnR>
                    <a:lnT w="6668">
                      <a:solidFill>
                        <a:srgbClr val="A9B6D0"/>
                      </a:solidFill>
                      <a:prstDash val="solid"/>
                    </a:lnT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3249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关键验证</a:t>
                      </a:r>
                    </a:p>
                  </a:txBody>
                  <a:tcPr marL="114300" marR="114300" marT="95250" marB="76200" anchor="ctr">
                    <a:lnR w="6668">
                      <a:solidFill>
                        <a:srgbClr val="A9B6D0"/>
                      </a:solidFill>
                      <a:prstDash val="solid"/>
                    </a:lnR>
                    <a:lnT w="6668">
                      <a:solidFill>
                        <a:srgbClr val="A9B6D0"/>
                      </a:solidFill>
                      <a:prstDash val="solid"/>
                    </a:lnT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32497B"/>
                    </a:solidFill>
                  </a:tcPr>
                </a:tc>
              </a:tr>
              <a:tr h="85010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ANQ / MNQ</a:t>
                      </a:r>
                    </a:p>
                  </a:txBody>
                  <a:tcPr marL="114300" marR="114300" marT="95250" marB="76200" anchor="ctr">
                    <a:lnL w="6668">
                      <a:solidFill>
                        <a:srgbClr val="A9B6D0"/>
                      </a:solidFill>
                      <a:prstDash val="solid"/>
                    </a:lnL>
                    <a:lnR w="6668">
                      <a:solidFill>
                        <a:srgbClr val="A9B6D0"/>
                      </a:solidFill>
                      <a:prstDash val="solid"/>
                    </a:lnR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—S— / —S—S—</a:t>
                      </a:r>
                    </a:p>
                    <a:p>
                      <a:r>
                        <a:rPr sz="165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部分共轭与构象</a:t>
                      </a:r>
                    </a:p>
                  </a:txBody>
                  <a:tcPr marL="114300" marR="114300" marT="95250" marB="76200" anchor="ctr">
                    <a:lnR w="6668">
                      <a:solidFill>
                        <a:srgbClr val="A9B6D0"/>
                      </a:solidFill>
                      <a:prstDash val="solid"/>
                    </a:lnR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C=O</a:t>
                      </a:r>
                    </a:p>
                  </a:txBody>
                  <a:tcPr marL="114300" marR="114300" marT="95250" marB="76200" anchor="ctr">
                    <a:lnR w="6668">
                      <a:solidFill>
                        <a:srgbClr val="A9B6D0"/>
                      </a:solidFill>
                      <a:prstDash val="solid"/>
                    </a:lnR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Zn²⁺配位</a:t>
                      </a:r>
                    </a:p>
                    <a:p>
                      <a:r>
                        <a:rPr sz="165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羰基还原/恢复</a:t>
                      </a:r>
                    </a:p>
                  </a:txBody>
                  <a:tcPr marL="114300" marR="114300" marT="95250" marB="76200" anchor="ctr">
                    <a:lnR w="6668">
                      <a:solidFill>
                        <a:srgbClr val="A9B6D0"/>
                      </a:solidFill>
                      <a:prstDash val="solid"/>
                    </a:lnR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CV/GCD</a:t>
                      </a:r>
                    </a:p>
                    <a:p>
                      <a:r>
                        <a:rPr sz="165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O/Zn谱学+DFT</a:t>
                      </a:r>
                    </a:p>
                  </a:txBody>
                  <a:tcPr marL="114300" marR="114300" marT="95250" marB="76200" anchor="ctr">
                    <a:lnR w="6668">
                      <a:solidFill>
                        <a:srgbClr val="A9B6D0"/>
                      </a:solidFill>
                      <a:prstDash val="solid"/>
                    </a:lnR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010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DOP</a:t>
                      </a:r>
                    </a:p>
                  </a:txBody>
                  <a:tcPr marL="114300" marR="114300" marT="95250" marB="76200" anchor="ctr">
                    <a:lnL w="6668">
                      <a:solidFill>
                        <a:srgbClr val="A9B6D0"/>
                      </a:solidFill>
                      <a:prstDash val="solid"/>
                    </a:lnL>
                    <a:lnR w="6668">
                      <a:solidFill>
                        <a:srgbClr val="A9B6D0"/>
                      </a:solidFill>
                      <a:prstDash val="solid"/>
                    </a:lnR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扩展含氮共轭</a:t>
                      </a:r>
                    </a:p>
                    <a:p>
                      <a:r>
                        <a:rPr sz="165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DTP作对照</a:t>
                      </a:r>
                    </a:p>
                  </a:txBody>
                  <a:tcPr marL="114300" marR="114300" marT="95250" marB="76200" anchor="ctr">
                    <a:lnR w="6668">
                      <a:solidFill>
                        <a:srgbClr val="A9B6D0"/>
                      </a:solidFill>
                      <a:prstDash val="solid"/>
                    </a:lnR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C=N / —NH—</a:t>
                      </a:r>
                    </a:p>
                  </a:txBody>
                  <a:tcPr marL="114300" marR="114300" marT="95250" marB="76200" anchor="ctr">
                    <a:lnR w="6668">
                      <a:solidFill>
                        <a:srgbClr val="A9B6D0"/>
                      </a:solidFill>
                      <a:prstDash val="solid"/>
                    </a:lnR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Zn²⁺/H⁺与</a:t>
                      </a:r>
                    </a:p>
                    <a:p>
                      <a:r>
                        <a:rPr sz="165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ClO₄⁻共同参与</a:t>
                      </a:r>
                    </a:p>
                  </a:txBody>
                  <a:tcPr marL="114300" marR="114300" marT="95250" marB="76200" anchor="ctr">
                    <a:lnR w="6668">
                      <a:solidFill>
                        <a:srgbClr val="A9B6D0"/>
                      </a:solidFill>
                      <a:prstDash val="solid"/>
                    </a:lnR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Raman/FTIR</a:t>
                      </a:r>
                    </a:p>
                    <a:p>
                      <a:r>
                        <a:rPr sz="165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Zn/Cl XPS+EQCM</a:t>
                      </a:r>
                    </a:p>
                  </a:txBody>
                  <a:tcPr marL="114300" marR="114300" marT="95250" marB="76200" anchor="ctr">
                    <a:lnR w="6668">
                      <a:solidFill>
                        <a:srgbClr val="A9B6D0"/>
                      </a:solidFill>
                      <a:prstDash val="solid"/>
                    </a:lnR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E9EDF5"/>
                    </a:solidFill>
                  </a:tcPr>
                </a:tc>
              </a:tr>
              <a:tr h="85010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BTAQX</a:t>
                      </a:r>
                    </a:p>
                  </a:txBody>
                  <a:tcPr marL="114300" marR="114300" marT="95250" marB="76200" anchor="ctr">
                    <a:lnL w="6668">
                      <a:solidFill>
                        <a:srgbClr val="A9B6D0"/>
                      </a:solidFill>
                      <a:prstDash val="solid"/>
                    </a:lnL>
                    <a:lnR w="6668">
                      <a:solidFill>
                        <a:srgbClr val="A9B6D0"/>
                      </a:solidFill>
                      <a:prstDash val="solid"/>
                    </a:lnR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含NH共轭骨架</a:t>
                      </a:r>
                    </a:p>
                    <a:p>
                      <a:r>
                        <a:rPr sz="165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NH相关氧化中心</a:t>
                      </a:r>
                    </a:p>
                  </a:txBody>
                  <a:tcPr marL="114300" marR="114300" marT="95250" marB="76200" anchor="ctr">
                    <a:lnR w="6668">
                      <a:solidFill>
                        <a:srgbClr val="A9B6D0"/>
                      </a:solidFill>
                      <a:prstDash val="solid"/>
                    </a:lnR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NH相关N中心</a:t>
                      </a:r>
                    </a:p>
                  </a:txBody>
                  <a:tcPr marL="114300" marR="114300" marT="95250" marB="76200" anchor="ctr">
                    <a:lnR w="6668">
                      <a:solidFill>
                        <a:srgbClr val="A9B6D0"/>
                      </a:solidFill>
                      <a:prstDash val="solid"/>
                    </a:lnR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OTF⁻吸附/脱附</a:t>
                      </a:r>
                    </a:p>
                    <a:p>
                      <a:r>
                        <a:rPr sz="165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p型为主</a:t>
                      </a:r>
                    </a:p>
                  </a:txBody>
                  <a:tcPr marL="114300" marR="114300" marT="95250" marB="76200" anchor="ctr">
                    <a:lnR w="6668">
                      <a:solidFill>
                        <a:srgbClr val="A9B6D0"/>
                      </a:solidFill>
                      <a:prstDash val="solid"/>
                    </a:lnR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N/S XPS</a:t>
                      </a:r>
                    </a:p>
                    <a:p>
                      <a:r>
                        <a:rPr sz="165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OTF振动+DFT</a:t>
                      </a:r>
                    </a:p>
                  </a:txBody>
                  <a:tcPr marL="114300" marR="114300" marT="95250" marB="76200" anchor="ctr">
                    <a:lnR w="6668">
                      <a:solidFill>
                        <a:srgbClr val="A9B6D0"/>
                      </a:solidFill>
                      <a:prstDash val="solid"/>
                    </a:lnR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0CF3D-546D-43A4-8A62-DCCFE0F8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105400"/>
            <a:ext cx="20955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读图顺序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CAC67-1AE6-4D75-84FD-6B3F3F1C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514975"/>
            <a:ext cx="11430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结构与电子分布  →  充放电状态  →  活性位点变化  →  离子参与  →  证据边界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6E66B0-95E0-46DA-9FAF-8683D277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086475"/>
            <a:ext cx="1165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ECFC0E-5AE3-43CA-989B-32EB2B18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53150"/>
            <a:ext cx="11410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三种互补策略，不把不同电解液中的容量直接排名。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1D204C-22F7-4262-8924-6DC9F7EA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81775"/>
            <a:ext cx="1133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rPr>
              <a:t>[P1] Fig.1a；[P2] Fig.1a；[P3] Fig.1a。基于原始结构与机理证据的整理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06B403-ABC4-4F54-B87E-0D039405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5436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142518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CDAE8A-3F06-420A-938B-B4AA367D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49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08594-EFE4-41A3-B0A9-0CC5F383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1166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  ANQ/MNQ：桥联基团如何改变电子结构？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569213-649A-4E16-9AA0-27F5ECBD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334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保留相同萘醌单元，比较 —S— 与 —S—S— 桥联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ED741D-0555-4A26-942C-3A9ACAF1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162050"/>
            <a:ext cx="11658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3F1A67-D527-4893-B298-C4FBAC07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371600"/>
            <a:ext cx="8039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分子结构与合成路线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A26B6C-7CD6-43EA-85B2-DF2F65A7FD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25bbac106d408d"/>
          <a:stretch xmlns:a="http://schemas.openxmlformats.org/drawingml/2006/main"/>
        </p:blipFill>
        <p:spPr>
          <a:xfrm xmlns:a="http://schemas.openxmlformats.org/drawingml/2006/main">
            <a:off x="909094" y="1666875"/>
            <a:ext cx="6754313" cy="15906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6FAE49-03AC-49A9-B02F-7DB18B6E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86125"/>
            <a:ext cx="80391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rPr>
              <a:t>Fig.1a：相同萘醌单元，不同硫桥；图内结构与原色保留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11E827-D0C3-41B2-8060-BEA56723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771900"/>
            <a:ext cx="8039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分子静电势（DFT）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5083AD-D678-4AF3-B476-14A1BB37E3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0086b185e14b76"/>
          <a:stretch xmlns:a="http://schemas.openxmlformats.org/drawingml/2006/main"/>
        </p:blipFill>
        <p:spPr>
          <a:xfrm xmlns:a="http://schemas.openxmlformats.org/drawingml/2006/main">
            <a:off x="1019528" y="4067175"/>
            <a:ext cx="6533443" cy="13239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C947F9-E205-42EE-BDD9-8695A42F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19725"/>
            <a:ext cx="80391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rPr>
              <a:t>Fig.5a：局域负电势区域及构象改变；电势图并非直接离子轨迹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AD0BC9-D767-4BA8-BCDE-95363D26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71600"/>
            <a:ext cx="339090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C9DC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C21F82-4292-4760-B307-BA122592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71600"/>
            <a:ext cx="33909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72DA5F-FACB-4C2E-99AF-9EA09DD4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400175"/>
            <a:ext cx="316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结构变量与证据层级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417DB9-BA97-4D87-A562-BF5507A1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790700"/>
            <a:ext cx="30861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MNQ：二硫桥 —S—S—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D34E8B-6D14-4BB8-B8ED-6AEE464D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32184"/>
            <a:ext cx="30861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ANQ：硫醚桥 —S—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3D9BF0-77F9-426C-BF09-00ACA829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73668"/>
            <a:ext cx="3086100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结构确认：FTIR / XRD / ¹H NMR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CF0622-41E3-4856-BD4B-22515A4A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85185"/>
            <a:ext cx="30861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计算：能隙 2.74 → 2.49 eV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40CB58-38A9-40AD-AAEC-B4F73190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26669"/>
            <a:ext cx="3086100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作者提出“静电漏斗”解释位点可及性提升。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0A1B86-6EFC-40E3-A5DC-2CF619E7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38186"/>
            <a:ext cx="3086100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桥长、构象和分子量也变化，不能只归因于电负性。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E24F37-F72F-4BA0-887F-CFE91F1A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086475"/>
            <a:ext cx="1165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D0054A-BC4D-4569-BCFC-DCF81C06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53150"/>
            <a:ext cx="11410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作者解释：硫醚桥联改变局域电势，改善羰基位点可及性。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662FCD-39B4-4DE3-9497-45728AAE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81775"/>
            <a:ext cx="1133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rPr>
              <a:t>[P1] Li et al., AFM 2026, e76927. Fig.1a/5a,e；DOI:10.1002/adfm.76927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FBE1DB-0038-4644-8E03-1B498A00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5436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040364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D67643-A9BC-4FE0-B443-CA03BAA4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49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296400-6392-404F-90EF-D3844447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1166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05  ANQ/MNQ：性能改善能否对应到羰基反应？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130BF8-8829-4B4F-ABAC-A904AE2D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334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CV/GCD 给出性能，FTIR/XPS 检验位点变化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C2CB8-AD16-4CA0-BAE3-551849AA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162050"/>
            <a:ext cx="11658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E7EA52-784C-4BF3-AE38-FD050CAA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362075"/>
            <a:ext cx="3371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CV：两组氧化还原特征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3A48C5-F932-4C09-8755-9A4BEA0AD2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89df1797064712"/>
          <a:stretch xmlns:a="http://schemas.openxmlformats.org/drawingml/2006/main"/>
        </p:blipFill>
        <p:spPr>
          <a:xfrm xmlns:a="http://schemas.openxmlformats.org/drawingml/2006/main">
            <a:off x="913267" y="1657350"/>
            <a:ext cx="2078717" cy="17811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F0561F-42C5-467D-9122-4CB27D40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362075"/>
            <a:ext cx="3371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GCD：0.05 A g⁻¹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CB2BCC-95F1-45F8-90F8-6564FF0462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2fb94360984b17"/>
          <a:stretch xmlns:a="http://schemas.openxmlformats.org/drawingml/2006/main"/>
        </p:blipFill>
        <p:spPr>
          <a:xfrm xmlns:a="http://schemas.openxmlformats.org/drawingml/2006/main">
            <a:off x="4485142" y="1657350"/>
            <a:ext cx="2078717" cy="17811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486CB2-A56A-4836-AC8D-B4CA3E6D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686175"/>
            <a:ext cx="3371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非原位FTIR：羰基变化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E6DAFD-9CFD-4339-8F65-0CD27FE01D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4f553d075d4776"/>
          <a:stretch xmlns:a="http://schemas.openxmlformats.org/drawingml/2006/main"/>
        </p:blipFill>
        <p:spPr>
          <a:xfrm xmlns:a="http://schemas.openxmlformats.org/drawingml/2006/main">
            <a:off x="601360" y="3981450"/>
            <a:ext cx="2702530" cy="185737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D5B600-1266-4CEA-BA89-CDBE2F89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686175"/>
            <a:ext cx="3371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非原位XPS：O 1s / Zn 2p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7C3151-CD11-4DF2-A379-273832DDE2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feee4c95ef42a5"/>
          <a:stretch xmlns:a="http://schemas.openxmlformats.org/drawingml/2006/main"/>
        </p:blipFill>
        <p:spPr>
          <a:xfrm xmlns:a="http://schemas.openxmlformats.org/drawingml/2006/main">
            <a:off x="4205993" y="3981450"/>
            <a:ext cx="2637014" cy="185737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09E3F3-310E-4C26-9D6B-E63A023A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362075"/>
            <a:ext cx="446722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C9DC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9C894D-5952-451A-8240-E23A13F4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362075"/>
            <a:ext cx="44672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B3B2D1-FFF3-4D7F-AEAB-EBED3BB9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390650"/>
            <a:ext cx="423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性能与机理证据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E3038D-8F8E-4800-AFCA-DF8D41C6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781175"/>
            <a:ext cx="409575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236.6 / 192.1 mAh g⁻¹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2D9F02-BE29-4C4A-A940-F63005D3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098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ANQ / MNQ，同为0.05 A g⁻¹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7C2B49-6C80-4BFB-A565-FE274ED6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24150"/>
            <a:ext cx="408622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但窗口不同：ANQ 0.3–1.7 V；MNQ 0.3–1.3 V。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05DC4B-904E-401B-8B59-5BA9012D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35668"/>
            <a:ext cx="408622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FTIR与O 1s可逆变化支持C=O/C–O转化；Zn 2p支持锌参与。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41658C-9550-480A-824B-1F67B3C3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147185"/>
            <a:ext cx="408622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作者报告50 A g⁻¹下约155–160 mAh g⁻¹及&gt;100,000圈。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AA3128-3325-4766-9F63-4093518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858703"/>
            <a:ext cx="408622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实测容量高于4羰基理论值202.82 mAh g⁻¹，额外贡献需辨析；长循环保持率内文不一致。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94ECD6-F1D5-4357-8A72-8FCC6CED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086475"/>
            <a:ext cx="1165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C6A005-D55E-4E0D-A77B-FEA9B631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53150"/>
            <a:ext cx="11410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放电：C=O 减弱、C–O 与 Zn 信号增强；充电反向恢复。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CDAF45-F36B-4468-B2D1-4EE30B31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81775"/>
            <a:ext cx="1133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rPr>
              <a:t>[P1] Fig.2a,b,f；Fig.4a–d；PDF3–6,8。两材料电压窗不同，保持率内文不一致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F6D43E-1A98-4685-94A1-7722FFF6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5436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502382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5D40D0-1275-4639-8FD0-D09C8C18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49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7D0161-0FC3-4514-A553-41CF9BD2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1166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06  DOP：共轭延伸如何兼顾双位点与低溶解？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321E31-D640-4EF6-945D-8D4090A9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334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由 DTP 到 DOP，增加 C=N 中心并保留 —NH—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FB1A99-D0A5-4DE1-984C-88061F82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162050"/>
            <a:ext cx="11658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7FD85C-2D3F-437B-8538-7B8C2D37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381125"/>
            <a:ext cx="333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DTP / DOP结构对照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58269-8CEF-4FB0-8706-FF085F6CFD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8f10ac0b6f4445"/>
          <a:stretch xmlns:a="http://schemas.openxmlformats.org/drawingml/2006/main"/>
        </p:blipFill>
        <p:spPr>
          <a:xfrm xmlns:a="http://schemas.openxmlformats.org/drawingml/2006/main">
            <a:off x="266700" y="1752609"/>
            <a:ext cx="3333750" cy="263840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EA611D-DD13-46A0-8E3E-FE909515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495800"/>
            <a:ext cx="333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rPr>
              <a:t>Fig.1a：C=N与NH相关位点；不靠结构式单独判机制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65A14C-4CD4-4FFC-BB96-490A84A7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381125"/>
            <a:ext cx="80867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循环照片与原位UV–vis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95CD87-B105-4989-B904-E6C2659061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240061b9df47c4"/>
          <a:stretch xmlns:a="http://schemas.openxmlformats.org/drawingml/2006/main"/>
        </p:blipFill>
        <p:spPr>
          <a:xfrm xmlns:a="http://schemas.openxmlformats.org/drawingml/2006/main">
            <a:off x="5418238" y="1676400"/>
            <a:ext cx="4927399" cy="20478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C095FB-4036-4663-ACE3-3AED72EF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752850"/>
            <a:ext cx="808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rPr>
              <a:t>Fig.1e,f：DOP体系未见明显新增溶解吸收，不等于绝对不溶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75AA39-B761-47CD-9B05-E8A4BDE2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267200"/>
            <a:ext cx="80867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C9DC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21EAB1-E855-4F2E-A373-12396DA2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267200"/>
            <a:ext cx="80867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3432F6-6EFB-40EF-9EFC-38A809BE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295775"/>
            <a:ext cx="785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设计与可验证问题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C30039-D77F-4957-B11F-ECB6C808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67250"/>
            <a:ext cx="7753350" cy="301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PND + DDD缩合扩展含氮骨架；DTP为较小骨架参照。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92758E-8B85-44FB-9C17-9F2711B7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64443"/>
            <a:ext cx="7753350" cy="301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兼顾位点与稳定性，但共轭、堆积及溶解同时改变。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A0ECF9-FE4E-4281-BB36-3E75476B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61635"/>
            <a:ext cx="7753350" cy="301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FTIR / HRMS确认结构，反应归属继续看充放电谱学。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BB8116-67B5-4946-8148-5BD6D712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086350"/>
            <a:ext cx="3143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n型：C=N</a:t>
            </a:r>
          </a:p>
          <a:p xmlns:a="http://schemas.openxmlformats.org/drawingml/2006/main">
            <a:pPr algn="l">
              <a:defRPr sz="18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p型：NH相关中心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B6C38B-5CFB-47DA-8BA3-6156BE02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086475"/>
            <a:ext cx="1165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A4D0FB-8D6D-4F30-92FC-E01A6476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53150"/>
            <a:ext cx="11410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结构确认与溶解证据分开；双极性仍需充放电谱学证明。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8B436F-DFDA-486B-ACEC-18991595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81775"/>
            <a:ext cx="1133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rPr>
              <a:t>[P2] Hua et al., ACS Nano 2025,19,14249–14261. Fig.1a,e,f/2b；DOI:10.1021/acsnano.5c00833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E8FE5D-8EA1-49E9-A448-55966483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5436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764461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3C7352-5C74-45EA-9B12-8B961B5A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49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A40F19-AF4C-4835-8093-E748811B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1166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07  DOP：容量、倍率、循环与温度条件分别是什么？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BED4C0-47DD-4DA9-AD7D-12AE2BA0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334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区分低倍率容量、高倍率寿命和宽温测试协议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EEEC62-0FB0-4E82-A660-4C9DBC53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162050"/>
            <a:ext cx="11658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116CB1-469E-4B30-AC09-E94FD41D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362075"/>
            <a:ext cx="78962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倍率与充放电曲线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92707E-682B-4636-AC04-DE10D2186A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bbadf2e6ac4358"/>
          <a:stretch xmlns:a="http://schemas.openxmlformats.org/drawingml/2006/main"/>
        </p:blipFill>
        <p:spPr>
          <a:xfrm xmlns:a="http://schemas.openxmlformats.org/drawingml/2006/main">
            <a:off x="1928859" y="1657350"/>
            <a:ext cx="4571908" cy="1790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587164-D9A0-45BF-BEC8-A84F7FE3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476625"/>
            <a:ext cx="78962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rPr>
              <a:t>Fig.3b,c：室温容量与倍率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28F3BC-AB54-449C-8840-BC0E49DF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990975"/>
            <a:ext cx="78962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长期循环：10 A g⁻¹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0F66F3-4A42-41B1-BC5A-02AFDC6744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f8af85175246a6"/>
          <a:stretch xmlns:a="http://schemas.openxmlformats.org/drawingml/2006/main"/>
        </p:blipFill>
        <p:spPr>
          <a:xfrm xmlns:a="http://schemas.openxmlformats.org/drawingml/2006/main">
            <a:off x="1979874" y="4286250"/>
            <a:ext cx="4469876" cy="11715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1D6887-D96F-46B3-BAB1-D80804BE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86400"/>
            <a:ext cx="78962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rPr>
              <a:t>Fig.3f：30,000圈后保持67%，不是低倍率容量保持三万圈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CF4802-0747-4D3F-82E8-262F4816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362075"/>
            <a:ext cx="352425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C9DC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FD03CB-3C65-4C3D-9511-783737CC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362075"/>
            <a:ext cx="35242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635493-26A1-42C7-AA2F-392CF7EA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390650"/>
            <a:ext cx="329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条件化性能指标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71312D-53E8-41F3-A739-D17F5654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781175"/>
            <a:ext cx="320040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360 mAh g⁻¹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3C456E-1664-4429-8555-A229E589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20980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0.05 A g⁻¹，室温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9D4473-9F52-4BFD-8D37-AB85ECF7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714625"/>
            <a:ext cx="320040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163 mAh g⁻¹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DD8D6C-5A4E-4F65-88E2-CB69EC9B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14325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20 A g⁻¹，室温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80EA25-2B2A-4023-B09D-DF49F797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648075"/>
            <a:ext cx="32004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50 / −50 °C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16082C-4C02-41A3-8102-1B7A48FF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057650"/>
            <a:ext cx="32004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312 / 172 mAh g⁻¹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6A7E4A-B1BA-41AF-9303-05915E3F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451509"/>
            <a:ext cx="32004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均为0.2 A g⁻¹；Fig.6b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FDFEF7-FD10-4498-A8AF-744EA3CA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845368"/>
            <a:ext cx="320040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长循环/低温测试先室温活化5圈。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E915EA-D00E-4896-A688-E0BB4DDB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086475"/>
            <a:ext cx="1165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58DB79-F3DE-485D-9360-BA927B7E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53150"/>
            <a:ext cx="11410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360 mAh g⁻¹ 与 30,000 圈来自不同电流条件，不能合并表述。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65C44C-F670-4C6C-A04E-5F33FBB2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81775"/>
            <a:ext cx="1133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rPr>
              <a:t>[P2] Fig.3b,c,f/6b；PDF7,9–10。2 M Zn(ClO₄)₂；约1.5 mg cm⁻²；0.3–1.5 V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F67761-F84A-4EB4-8AB2-94374FFA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5436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089105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807A50-0ADE-4F12-AB20-03E89015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49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BCC0B4-C12A-4B05-8BFF-A92B4A82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1166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08  DOP：哪些证据支持 n/p 双极性储能？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A6B4B3-D171-467E-A768-0B0B41BC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334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阳离子和阴离子的参与如何随充放电可逆变化？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0318EC-8809-46DA-8466-ADE38062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162050"/>
            <a:ext cx="11658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DB65B0-BA09-487C-A634-2DFB55E4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352550"/>
            <a:ext cx="23526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作者模型：2e⁻ + 6e⁻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873DC8-7C0B-4FC5-B5C4-3866E43083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152e29cde2499d"/>
          <a:stretch xmlns:a="http://schemas.openxmlformats.org/drawingml/2006/main"/>
        </p:blipFill>
        <p:spPr>
          <a:xfrm xmlns:a="http://schemas.openxmlformats.org/drawingml/2006/main">
            <a:off x="291124" y="1647825"/>
            <a:ext cx="2303826" cy="42195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8562F7-7297-4074-AC09-9FDEF95F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352550"/>
            <a:ext cx="906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原位Raman与operando FTIR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7A1E22-66B6-43A4-946B-0396E2201D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5a8fd2d04b4f6f"/>
          <a:stretch xmlns:a="http://schemas.openxmlformats.org/drawingml/2006/main"/>
        </p:blipFill>
        <p:spPr>
          <a:xfrm xmlns:a="http://schemas.openxmlformats.org/drawingml/2006/main">
            <a:off x="4346426" y="1647825"/>
            <a:ext cx="6089948" cy="1428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01A31-C97A-4587-BA9D-2ECF90FA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05150"/>
            <a:ext cx="9067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rPr>
              <a:t>Fig.5a–d：C=N / C–N、ClO₄⁻及N–H相关信号可逆变化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9C6701-300B-4D7A-81FF-E6CC9541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76650"/>
            <a:ext cx="466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Zn / Cl XPS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4BE3D8-AEB5-4635-9F50-9C1EA2926C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d8c61866694791"/>
          <a:stretch xmlns:a="http://schemas.openxmlformats.org/drawingml/2006/main"/>
        </p:blipFill>
        <p:spPr>
          <a:xfrm xmlns:a="http://schemas.openxmlformats.org/drawingml/2006/main">
            <a:off x="3598901" y="3971925"/>
            <a:ext cx="3184448" cy="155257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BB6464-2832-4AFD-ADB8-28803816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53075"/>
            <a:ext cx="4667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rPr>
              <a:t>Fig.5e,f：锌与高氯酸根参与的交叉证据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9283C2-00F5-4412-8EA3-14508ACB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676650"/>
            <a:ext cx="42005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C9DC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AC62C5-22FA-47C8-9C3A-35018AF2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676650"/>
            <a:ext cx="42005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105606-09D8-4753-AB71-56D107B6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705225"/>
            <a:ext cx="3971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反应方向与解释边界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1C91BC-7754-4039-AED0-1E33C962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105275"/>
            <a:ext cx="389572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放电：ClO₄⁻释放与Zn²⁺/H⁺存储；部分过程重叠。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0C5321-B450-4E53-9CCA-CFB1908F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759643"/>
            <a:ext cx="3895725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充电反向；中性DOP是图中间态。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2823C8-14B2-4F92-921E-942AAF1D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5143976"/>
            <a:ext cx="3895725" cy="559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总8e⁻是作者模型；不据此定量拆分各离子容量。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48234F-2C01-43E0-B4C0-8E1A70DD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086475"/>
            <a:ext cx="1165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87D156-5FF2-467A-9430-28408054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53150"/>
            <a:ext cx="11410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作者模型：n 型 6e⁻ + p 型 2e⁻；不等于已分离出各离子容量。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25958F-969B-494D-B0E4-55FBD68B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81775"/>
            <a:ext cx="1133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rPr>
              <a:t>[P2] Fig.5a–f,k；PDF8–9。谱学支持共同参与，逐步计量为作者模型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4F2A70-EDA8-4E18-993F-33729D33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5436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675767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EAD3B1-1F01-4ABE-8F6E-0DECCBB6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49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9D91D1-A543-4C5E-A783-7592C696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1166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09  BTAQX：以 NH 相关中心建立高电压 p 型储能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6052D2-AE62-463F-918C-F1919B13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334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共轭含氮骨架为何不一定表现为 n/p 双极性？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248D2E-8EA5-4B14-976C-077535FE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162050"/>
            <a:ext cx="11658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0EF6A5-CB6A-4DE7-9B2B-2C839C4A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362075"/>
            <a:ext cx="11658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分子设计与合成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5911C5-9BBB-4C0E-AED6-543BFD0066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9875804c3c478c"/>
          <a:stretch xmlns:a="http://schemas.openxmlformats.org/drawingml/2006/main"/>
        </p:blipFill>
        <p:spPr>
          <a:xfrm xmlns:a="http://schemas.openxmlformats.org/drawingml/2006/main">
            <a:off x="2137272" y="1657350"/>
            <a:ext cx="7917455" cy="10668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537C28-F6C7-4F7F-95A4-3C87E905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52725"/>
            <a:ext cx="11658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rPr>
              <a:t>Fig.1a：DCQX（2,3-二氯喹喔啉）+ DAB；120 °C，5 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60E4E5-5759-4FE8-A73A-2DFC2B09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86125"/>
            <a:ext cx="7753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充放电平台与200圈循环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CE1544-3955-418D-9091-AAA5850462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4c69afd3e24023"/>
          <a:stretch xmlns:a="http://schemas.openxmlformats.org/drawingml/2006/main"/>
        </p:blipFill>
        <p:spPr>
          <a:xfrm xmlns:a="http://schemas.openxmlformats.org/drawingml/2006/main">
            <a:off x="1615355" y="3581400"/>
            <a:ext cx="5056039" cy="18954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888106-399B-4918-B5A2-7D60EA4E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505450"/>
            <a:ext cx="7753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rPr>
              <a:t>Fig.4b,c：1 M Zn(OTF)₂，0.05 A g⁻¹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ECDD3F-0EAD-4229-BA71-B7AAFE22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86125"/>
            <a:ext cx="365760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C9DC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8E6582-2084-40EC-9081-AD812821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86125"/>
            <a:ext cx="36576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A400FA-4362-41D3-AB99-31B9D541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14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同一条件下的性能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5E19FA-2660-4A05-AF6D-BB9BA890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705225"/>
            <a:ext cx="33337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157.8 mAh g⁻¹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2D1797-47C6-4EEB-822B-D32F9751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00525"/>
            <a:ext cx="333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57E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57E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57E83"/>
                </a:solidFill>
                <a:latin typeface="Noto Sans CJK SC"/>
                <a:ea typeface="Noto Sans CJK SC"/>
                <a:cs typeface="Noto Sans CJK SC"/>
              </a:rPr>
              <a:t>约1.10 V 工作电压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456007-9A28-4D0F-B337-7CDA38F8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86300"/>
            <a:ext cx="333375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200圈保持96.7%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4A83D3-9491-479A-ABC7-8EBE5757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061109"/>
            <a:ext cx="333375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OTF⁻ = CF₃SO₃⁻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618EED-1D57-45C6-8059-A32251E1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435918"/>
            <a:ext cx="3333750" cy="289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此处不称已验证的n/p双极性。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CB37BA-D849-45A1-BC3B-0511134B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086475"/>
            <a:ext cx="1165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7BF3D9-015F-4F8A-BEF4-B3D8DE67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53150"/>
            <a:ext cx="11410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在该电解液中，主要证据指向 NH 相关氧化中心与阴离子补偿。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A93236-53C3-416E-910A-7ACDC2BA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81775"/>
            <a:ext cx="1133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rPr>
              <a:t>[P3] Pan et al., CEJ 2025,524,169407. Fig.1a/4b,c；DOI:10.1016/j.cej.2025.169407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2136F8-EF74-4121-8EB7-95B01F57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5436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8092534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EB5B26-F49E-485A-94EA-F93D5640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49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CC9CE-4FF1-4075-AA66-5365ED4B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1166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10  BTAQX：阴离子存储机制如何建立？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0E508-4C81-4355-BB34-77CC26BA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334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把 N 中心氧化与 OTF⁻ 富集的可逆证据联系起来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06B75-AC03-475B-A95B-EA31C084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162050"/>
            <a:ext cx="11658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679FFF-6A24-48BB-9784-6A055754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352550"/>
            <a:ext cx="8105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作者提出的4e⁻ / 4OTF⁻模型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BCC398-16D7-43AE-97C4-1767AA008F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4521df740b45cf"/>
          <a:stretch xmlns:a="http://schemas.openxmlformats.org/drawingml/2006/main"/>
        </p:blipFill>
        <p:spPr>
          <a:xfrm xmlns:a="http://schemas.openxmlformats.org/drawingml/2006/main">
            <a:off x="1107149" y="1647825"/>
            <a:ext cx="6424876" cy="11715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BD7B1E-453F-4A2E-A78F-F448581E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847975"/>
            <a:ext cx="81057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rPr>
              <a:t>Fig.2g：示意与DFT支持，不是逐步离子计量的直接测量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6D8432-DAA5-4D6C-8993-ADA79EFC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352550"/>
            <a:ext cx="33051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C9DC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BB7920-9D1C-466F-8067-B0257502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352550"/>
            <a:ext cx="33051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1ABBCD-9B5F-4DB3-8E88-C2ACEAB0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381125"/>
            <a:ext cx="3076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充放电方向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A2F645-6F76-4834-942C-9D039DC6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52600"/>
            <a:ext cx="3009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充电：N中心氧化，OTF⁻吸附补偿电荷。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D4ABBC-72BE-4AA6-9392-0162D2CA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71725"/>
            <a:ext cx="3009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放电：还原，OTF⁻释放。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245501-0616-41CC-A6D1-52E06B99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33675"/>
            <a:ext cx="3009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不能据此完全排除其他离子。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5BA6B9-50FC-4F2B-BE19-267ACFC4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438525"/>
            <a:ext cx="57435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N 1s / S 2p：氧化态与阴离子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1E5D17-9FAF-422B-B3A8-B3600F290B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97ea6cf2054b85"/>
          <a:stretch xmlns:a="http://schemas.openxmlformats.org/drawingml/2006/main"/>
        </p:blipFill>
        <p:spPr>
          <a:xfrm xmlns:a="http://schemas.openxmlformats.org/drawingml/2006/main">
            <a:off x="1309898" y="3733800"/>
            <a:ext cx="3657178" cy="17526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4BDC8E-1D01-4451-A687-E04313C7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514975"/>
            <a:ext cx="57435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rPr>
              <a:t>Fig.2d,e：充电态S信号增强，放电后减弱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B0E14B-C01F-44AD-88D1-D1489AF8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38525"/>
            <a:ext cx="5695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原位FTIR：OTF相关振动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0DAC28-9BFE-4170-B781-711DBA794E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89f15829ab4fd0"/>
          <a:stretch xmlns:a="http://schemas.openxmlformats.org/drawingml/2006/main"/>
        </p:blipFill>
        <p:spPr>
          <a:xfrm xmlns:a="http://schemas.openxmlformats.org/drawingml/2006/main">
            <a:off x="7272051" y="3733800"/>
            <a:ext cx="3610548" cy="17526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0A1176-6876-467F-A2E7-F79C20B5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514975"/>
            <a:ext cx="5695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rPr>
              <a:t>Fig.2a,b：充电增强、放电减弱；结合N/S证据判断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99673B-3215-49FF-978D-B6DCFB0F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086475"/>
            <a:ext cx="1165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3F9ACB-5321-400A-8BA5-A479DA4B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53150"/>
            <a:ext cx="11410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充电：氧化并吸附 OTF⁻；放电：还原并释放 OTF⁻。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D3396C-000F-4590-BD44-4037107E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81775"/>
            <a:ext cx="1133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rPr>
              <a:t>[P3] Fig.2b–e,g/3；PDF3–5。OTF⁻=CF₃SO₃⁻；4e⁻/4OTF⁻为作者提出的模型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19C7D2-347E-4EC4-A81C-30DC8E09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5436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636531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2B596A-EAC5-4EFF-B98B-E12E7DCF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49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951C89-8CCA-460C-BD92-5C82BA0B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1166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11  横向比较：可迁移的是设计维度，而不是容量排名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346038-448B-474C-920E-B853D3A6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334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哪些结构变量能转化为下一步可检验的假设？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48A46-BABF-40EC-91D1-42DEB07F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162050"/>
            <a:ext cx="11658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E8"/>
          </a:solidFill>
          <a:ln xmlns:a="http://schemas.openxmlformats.org/drawingml/2006/main" w="0">
            <a:noFill/>
          </a:ln>
        </p:spPr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FD1602-B505-4470-A70C-6DBEC1EAE8BD}"/>
              </a:ext>
            </a:extLst>
          </p:cNvPr>
          <p:cNvGraphicFramePr/>
          <p:nvPr/>
        </p:nvGraphicFramePr>
        <p:xfrm>
          <a:off xmlns:a="http://schemas.openxmlformats.org/drawingml/2006/main" x="266700" y="1400175"/>
          <a:ext xmlns:a="http://schemas.openxmlformats.org/drawingml/2006/main" cx="11658600" cy="4391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3076575"/>
                <a:gridCol w="3105150"/>
                <a:gridCol w="3095625"/>
              </a:tblGrid>
              <a:tr h="73183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维度</a:t>
                      </a:r>
                    </a:p>
                  </a:txBody>
                  <a:tcPr marL="114300" marR="114300" marT="95250" marB="76200" anchor="ctr">
                    <a:lnL w="6668">
                      <a:solidFill>
                        <a:srgbClr val="A9B6D0"/>
                      </a:solidFill>
                      <a:prstDash val="solid"/>
                    </a:lnL>
                    <a:lnR w="6668">
                      <a:solidFill>
                        <a:srgbClr val="A9B6D0"/>
                      </a:solidFill>
                      <a:prstDash val="solid"/>
                    </a:lnR>
                    <a:lnT w="6668">
                      <a:solidFill>
                        <a:srgbClr val="A9B6D0"/>
                      </a:solidFill>
                      <a:prstDash val="solid"/>
                    </a:lnT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3249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ANQ / MNQ</a:t>
                      </a:r>
                    </a:p>
                  </a:txBody>
                  <a:tcPr marL="114300" marR="114300" marT="95250" marB="76200" anchor="ctr">
                    <a:lnR w="6668">
                      <a:solidFill>
                        <a:srgbClr val="A9B6D0"/>
                      </a:solidFill>
                      <a:prstDash val="solid"/>
                    </a:lnR>
                    <a:lnT w="6668">
                      <a:solidFill>
                        <a:srgbClr val="A9B6D0"/>
                      </a:solidFill>
                      <a:prstDash val="solid"/>
                    </a:lnT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3249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DOP</a:t>
                      </a:r>
                    </a:p>
                  </a:txBody>
                  <a:tcPr marL="114300" marR="114300" marT="95250" marB="76200" anchor="ctr">
                    <a:lnR w="6668">
                      <a:solidFill>
                        <a:srgbClr val="A9B6D0"/>
                      </a:solidFill>
                      <a:prstDash val="solid"/>
                    </a:lnR>
                    <a:lnT w="6668">
                      <a:solidFill>
                        <a:srgbClr val="A9B6D0"/>
                      </a:solidFill>
                      <a:prstDash val="solid"/>
                    </a:lnT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3249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BTAQX</a:t>
                      </a:r>
                    </a:p>
                  </a:txBody>
                  <a:tcPr marL="114300" marR="114300" marT="95250" marB="76200" anchor="ctr">
                    <a:lnR w="6668">
                      <a:solidFill>
                        <a:srgbClr val="A9B6D0"/>
                      </a:solidFill>
                      <a:prstDash val="solid"/>
                    </a:lnR>
                    <a:lnT w="6668">
                      <a:solidFill>
                        <a:srgbClr val="A9B6D0"/>
                      </a:solidFill>
                      <a:prstDash val="solid"/>
                    </a:lnT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32497B"/>
                    </a:solidFill>
                  </a:tcPr>
                </a:tc>
              </a:tr>
              <a:tr h="7318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分子设计</a:t>
                      </a:r>
                    </a:p>
                  </a:txBody>
                  <a:tcPr marL="114300" marR="114300" marT="95250" marB="76200" anchor="ctr">
                    <a:lnL w="6668">
                      <a:solidFill>
                        <a:srgbClr val="A9B6D0"/>
                      </a:solidFill>
                      <a:prstDash val="solid"/>
                    </a:lnL>
                    <a:lnR w="6668">
                      <a:solidFill>
                        <a:srgbClr val="A9B6D0"/>
                      </a:solidFill>
                      <a:prstDash val="solid"/>
                    </a:lnR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硫桥调控部分共轭</a:t>
                      </a:r>
                    </a:p>
                    <a:p>
                      <a:r>
                        <a:rPr sz="150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与局域电势</a:t>
                      </a:r>
                    </a:p>
                  </a:txBody>
                  <a:tcPr marL="114300" marR="114300" marT="95250" marB="76200" anchor="ctr">
                    <a:lnR w="6668">
                      <a:solidFill>
                        <a:srgbClr val="A9B6D0"/>
                      </a:solidFill>
                      <a:prstDash val="solid"/>
                    </a:lnR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扩展含氮共轭</a:t>
                      </a:r>
                    </a:p>
                    <a:p>
                      <a:r>
                        <a:rPr sz="150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DTP为骨架对照</a:t>
                      </a:r>
                    </a:p>
                  </a:txBody>
                  <a:tcPr marL="114300" marR="114300" marT="95250" marB="76200" anchor="ctr">
                    <a:lnR w="6668">
                      <a:solidFill>
                        <a:srgbClr val="A9B6D0"/>
                      </a:solidFill>
                      <a:prstDash val="solid"/>
                    </a:lnR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NH相关氧化中心</a:t>
                      </a:r>
                    </a:p>
                    <a:p>
                      <a:r>
                        <a:rPr sz="150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与阴离子相互作用</a:t>
                      </a:r>
                    </a:p>
                  </a:txBody>
                  <a:tcPr marL="114300" marR="114300" marT="95250" marB="76200" anchor="ctr">
                    <a:lnR w="6668">
                      <a:solidFill>
                        <a:srgbClr val="A9B6D0"/>
                      </a:solidFill>
                      <a:prstDash val="solid"/>
                    </a:lnR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8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活性中心 / 离子</a:t>
                      </a:r>
                    </a:p>
                  </a:txBody>
                  <a:tcPr marL="114300" marR="114300" marT="95250" marB="76200" anchor="ctr">
                    <a:lnL w="6668">
                      <a:solidFill>
                        <a:srgbClr val="A9B6D0"/>
                      </a:solidFill>
                      <a:prstDash val="solid"/>
                    </a:lnL>
                    <a:lnR w="6668">
                      <a:solidFill>
                        <a:srgbClr val="A9B6D0"/>
                      </a:solidFill>
                      <a:prstDash val="solid"/>
                    </a:lnR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C=O / Zn²⁺</a:t>
                      </a:r>
                    </a:p>
                  </a:txBody>
                  <a:tcPr marL="114300" marR="114300" marT="95250" marB="76200" anchor="ctr">
                    <a:lnR w="6668">
                      <a:solidFill>
                        <a:srgbClr val="A9B6D0"/>
                      </a:solidFill>
                      <a:prstDash val="solid"/>
                    </a:lnR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C=N、NH相关中心</a:t>
                      </a:r>
                    </a:p>
                    <a:p>
                      <a:r>
                        <a:rPr sz="150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Zn²⁺/H⁺/ClO₄⁻</a:t>
                      </a:r>
                    </a:p>
                  </a:txBody>
                  <a:tcPr marL="114300" marR="114300" marT="95250" marB="76200" anchor="ctr">
                    <a:lnR w="6668">
                      <a:solidFill>
                        <a:srgbClr val="A9B6D0"/>
                      </a:solidFill>
                      <a:prstDash val="solid"/>
                    </a:lnR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NH相关N中心</a:t>
                      </a:r>
                    </a:p>
                    <a:p>
                      <a:r>
                        <a:rPr sz="150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OTF⁻为主</a:t>
                      </a:r>
                    </a:p>
                  </a:txBody>
                  <a:tcPr marL="114300" marR="114300" marT="95250" marB="76200" anchor="ctr">
                    <a:lnR w="6668">
                      <a:solidFill>
                        <a:srgbClr val="A9B6D0"/>
                      </a:solidFill>
                      <a:prstDash val="solid"/>
                    </a:lnR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E9EDF5"/>
                    </a:solidFill>
                  </a:tcPr>
                </a:tc>
              </a:tr>
              <a:tr h="7318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关键证据</a:t>
                      </a:r>
                    </a:p>
                  </a:txBody>
                  <a:tcPr marL="114300" marR="114300" marT="95250" marB="76200" anchor="ctr">
                    <a:lnL w="6668">
                      <a:solidFill>
                        <a:srgbClr val="A9B6D0"/>
                      </a:solidFill>
                      <a:prstDash val="solid"/>
                    </a:lnL>
                    <a:lnR w="6668">
                      <a:solidFill>
                        <a:srgbClr val="A9B6D0"/>
                      </a:solidFill>
                      <a:prstDash val="solid"/>
                    </a:lnR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CV/GCD + O/Zn谱学</a:t>
                      </a:r>
                    </a:p>
                    <a:p>
                      <a:r>
                        <a:rPr sz="150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与DFT交叉解释</a:t>
                      </a:r>
                    </a:p>
                  </a:txBody>
                  <a:tcPr marL="114300" marR="114300" marT="95250" marB="76200" anchor="ctr">
                    <a:lnR w="6668">
                      <a:solidFill>
                        <a:srgbClr val="A9B6D0"/>
                      </a:solidFill>
                      <a:prstDash val="solid"/>
                    </a:lnR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Raman/FTIR、Zn/Cl</a:t>
                      </a:r>
                    </a:p>
                    <a:p>
                      <a:r>
                        <a:rPr sz="150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XPS及EQCM</a:t>
                      </a:r>
                    </a:p>
                  </a:txBody>
                  <a:tcPr marL="114300" marR="114300" marT="95250" marB="76200" anchor="ctr">
                    <a:lnR w="6668">
                      <a:solidFill>
                        <a:srgbClr val="A9B6D0"/>
                      </a:solidFill>
                      <a:prstDash val="solid"/>
                    </a:lnR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FTIR、N/S XPS</a:t>
                      </a:r>
                    </a:p>
                    <a:p>
                      <a:r>
                        <a:rPr sz="150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与DFT反应模型</a:t>
                      </a:r>
                    </a:p>
                  </a:txBody>
                  <a:tcPr marL="114300" marR="114300" marT="95250" marB="76200" anchor="ctr">
                    <a:lnR w="6668">
                      <a:solidFill>
                        <a:srgbClr val="A9B6D0"/>
                      </a:solidFill>
                      <a:prstDash val="solid"/>
                    </a:lnR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8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代表性能（0.05 A g⁻¹）</a:t>
                      </a:r>
                    </a:p>
                  </a:txBody>
                  <a:tcPr marL="114300" marR="114300" marT="95250" marB="76200" anchor="ctr">
                    <a:lnL w="6668">
                      <a:solidFill>
                        <a:srgbClr val="A9B6D0"/>
                      </a:solidFill>
                      <a:prstDash val="solid"/>
                    </a:lnL>
                    <a:lnR w="6668">
                      <a:solidFill>
                        <a:srgbClr val="A9B6D0"/>
                      </a:solidFill>
                      <a:prstDash val="solid"/>
                    </a:lnR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ANQ 236.6 mAh g⁻¹</a:t>
                      </a:r>
                    </a:p>
                    <a:p>
                      <a:r>
                        <a:rPr sz="150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与MNQ窗口不同</a:t>
                      </a:r>
                    </a:p>
                  </a:txBody>
                  <a:tcPr marL="114300" marR="114300" marT="95250" marB="76200" anchor="ctr">
                    <a:lnR w="6668">
                      <a:solidFill>
                        <a:srgbClr val="A9B6D0"/>
                      </a:solidFill>
                      <a:prstDash val="solid"/>
                    </a:lnR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360 mAh g⁻¹</a:t>
                      </a:r>
                    </a:p>
                    <a:p>
                      <a:r>
                        <a:rPr sz="150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 M Zn(ClO₄)₂</a:t>
                      </a:r>
                    </a:p>
                  </a:txBody>
                  <a:tcPr marL="114300" marR="114300" marT="95250" marB="76200" anchor="ctr">
                    <a:lnR w="6668">
                      <a:solidFill>
                        <a:srgbClr val="A9B6D0"/>
                      </a:solidFill>
                      <a:prstDash val="solid"/>
                    </a:lnR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E9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157.8 mAh g⁻¹</a:t>
                      </a:r>
                    </a:p>
                    <a:p>
                      <a:r>
                        <a:rPr sz="150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 M Zn(OTF)₂</a:t>
                      </a:r>
                    </a:p>
                  </a:txBody>
                  <a:tcPr marL="114300" marR="114300" marT="95250" marB="76200" anchor="ctr">
                    <a:lnR w="6668">
                      <a:solidFill>
                        <a:srgbClr val="A9B6D0"/>
                      </a:solidFill>
                      <a:prstDash val="solid"/>
                    </a:lnR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E9EDF5"/>
                    </a:solidFill>
                  </a:tcPr>
                </a:tc>
              </a:tr>
              <a:tr h="7318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仍需验证</a:t>
                      </a:r>
                    </a:p>
                  </a:txBody>
                  <a:tcPr marL="114300" marR="114300" marT="95250" marB="76200" anchor="ctr">
                    <a:lnL w="6668">
                      <a:solidFill>
                        <a:srgbClr val="A9B6D0"/>
                      </a:solidFill>
                      <a:prstDash val="solid"/>
                    </a:lnL>
                    <a:lnR w="6668">
                      <a:solidFill>
                        <a:srgbClr val="A9B6D0"/>
                      </a:solidFill>
                      <a:prstDash val="solid"/>
                    </a:lnR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额外容量来源；</a:t>
                      </a:r>
                    </a:p>
                    <a:p>
                      <a:r>
                        <a:rPr sz="150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位点利用率与计量</a:t>
                      </a:r>
                    </a:p>
                  </a:txBody>
                  <a:tcPr marL="114300" marR="114300" marT="95250" marB="76200" anchor="ctr">
                    <a:lnR w="6668">
                      <a:solidFill>
                        <a:srgbClr val="A9B6D0"/>
                      </a:solidFill>
                      <a:prstDash val="solid"/>
                    </a:lnR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Zn²⁺/H⁺/阴离子</a:t>
                      </a:r>
                    </a:p>
                    <a:p>
                      <a:r>
                        <a:rPr sz="150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各自贡献与重叠</a:t>
                      </a:r>
                    </a:p>
                  </a:txBody>
                  <a:tcPr marL="114300" marR="114300" marT="95250" marB="76200" anchor="ctr">
                    <a:lnR w="6668">
                      <a:solidFill>
                        <a:srgbClr val="A9B6D0"/>
                      </a:solidFill>
                      <a:prstDash val="solid"/>
                    </a:lnR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逐步位点/阴离子计量；</a:t>
                      </a:r>
                    </a:p>
                    <a:p>
                      <a:r>
                        <a:rPr sz="1500" b="0">
                          <a:solidFill>
                            <a:srgbClr val="252B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电解液依赖</a:t>
                      </a:r>
                    </a:p>
                  </a:txBody>
                  <a:tcPr marL="114300" marR="114300" marT="95250" marB="76200" anchor="ctr">
                    <a:lnR w="6668">
                      <a:solidFill>
                        <a:srgbClr val="A9B6D0"/>
                      </a:solidFill>
                      <a:prstDash val="solid"/>
                    </a:lnR>
                    <a:lnB w="6668">
                      <a:solidFill>
                        <a:srgbClr val="A9B6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F6DC16-04B1-4EE0-918D-FB7BDE8A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086475"/>
            <a:ext cx="1165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A9996B-DFCD-470A-B959-603750CA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53150"/>
            <a:ext cx="11410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共同设计维度：骨架、位点、电子结构、离子路径与分子稳定性。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D0F305-9429-4B48-B4CB-D56DD1BA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81775"/>
            <a:ext cx="1133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rPr>
              <a:t>[P1] Fig.1/2/4/5；[P2] Fig.1/3/5；[P3] Fig.1/2/4。跨篇条件不等，不直接排名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61771E-5213-4E72-8B50-9A9EBFB5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5436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849806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A4798B-E509-4F06-8248-580DCD8F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549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83B867-8F66-45C3-AE09-AEB2260E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1166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12  拟开展实验：先建立可解释的桥联结构对照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7AC882-F2BB-4C4C-9167-7841BE95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334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主路线优先验证结构—溶解—电位—位点可逆性的联系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8D0A7D-8D09-4F29-AD9D-8E41EB71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162050"/>
            <a:ext cx="11658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9376AF-0BF0-4937-84A7-F6B37164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352550"/>
            <a:ext cx="11658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C9DCE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B5BA97-0B17-446E-80CD-9D8221EF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352550"/>
            <a:ext cx="116586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425D5C-B689-45A5-90F8-8F3B68BC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1143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主路线：双萘醌骨架的桥联系列（拟开展）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E7C4AE-07EF-43BF-8DA9-A5275A03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62125"/>
            <a:ext cx="11334750" cy="301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先复现—S— / —S—S—参照，再筛选—O— / —CH₂—桥联；尽量保持两个萘醌和位点数。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EAB2D3-7029-40A3-AF29-B83ABF7C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49793"/>
            <a:ext cx="11334750" cy="301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目标：分离桥联、溶解、电子结构与电位的关系，不预设“越共轭越好”。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AAA99E-926E-4924-8E8B-2B236126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86050"/>
            <a:ext cx="3733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C9DC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389E51-D297-413A-B3C8-DCAD2B65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86050"/>
            <a:ext cx="3733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5170DC-AE38-4062-BC37-13233C15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14625"/>
            <a:ext cx="350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1  合成与结构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55B744-3FDD-4B5C-81AA-99C7F5AA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105150"/>
            <a:ext cx="34861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补SI后小试/纯化；FTIR/HRMS</a:t>
            </a:r>
          </a:p>
          <a:p xmlns:a="http://schemas.openxmlformats.org/drawingml/2006/main">
            <a:pPr algn="l">
              <a:def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NMR（低溶解样品考虑固体谱）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B4DC77-BB2B-4739-9DF7-FA52D559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057525"/>
            <a:ext cx="23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013861-726B-4E70-91C0-4C53E71D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86050"/>
            <a:ext cx="3733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C9DC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41C6F3-D6A9-425C-AD39-FA64A6DD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86050"/>
            <a:ext cx="3733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65824D-8D42-4B9B-AB3A-3F8690D7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14625"/>
            <a:ext cx="350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2  统一电化学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DF4A27-AD9F-4021-8977-AD8724A8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105150"/>
            <a:ext cx="34861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CV/GCD/倍率/循环/EIS</a:t>
            </a:r>
          </a:p>
          <a:p xmlns:a="http://schemas.openxmlformats.org/drawingml/2006/main">
            <a:pPr algn="l">
              <a:def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必要时GITT；≥3独立电池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54F7E0-A1DF-48CE-AE61-4309FE95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057525"/>
            <a:ext cx="23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989666-5744-46A0-A51E-8FF77503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86050"/>
            <a:ext cx="3733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C9DC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E92C60-5289-4793-93AF-29E2A0A6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86050"/>
            <a:ext cx="3733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74A971-B8E3-4CC4-BC6B-0ACD4454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14625"/>
            <a:ext cx="350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3  位点与溶解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404B69-C6E8-4926-A173-794E0EB5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105150"/>
            <a:ext cx="34861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浸泡/循环UV–vis；原始、</a:t>
            </a:r>
          </a:p>
          <a:p xmlns:a="http://schemas.openxmlformats.org/drawingml/2006/main">
            <a:pPr algn="l">
              <a:def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放电、充电电极XPS/FTIR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1BC409-958E-4E06-B265-D9CF48F6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029075"/>
            <a:ext cx="567690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C9DCE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04779B-D92C-477D-ABC4-5DD1DCC6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029075"/>
            <a:ext cx="56769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830ED3-CE4C-44CF-A98C-042DD008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57650"/>
            <a:ext cx="544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关键对照与判据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34B7E9-EC04-4325-9B62-3A1F9A82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29125"/>
            <a:ext cx="5353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NQ单体、桥联参照、纯导电碳空白；统一载量/配方/电解液/窗口。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428FCB-1078-4057-B10E-9712CCA6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57775"/>
            <a:ext cx="5353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标准化清洗与转移；警惕碳贡献、锌负极失效和构象共变。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E14535-467A-43BF-AC7C-4F254547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29250"/>
            <a:ext cx="5353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若结构/纯度不清或性能差异不可重复，先停下机理归因。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8C529E-DC4E-467F-8FF7-57A43251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29075"/>
            <a:ext cx="575310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C9DCE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8F6BC0-141D-4E90-9E43-425263B0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29075"/>
            <a:ext cx="5753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C5CF96-03B9-44DF-B8D7-1647E5C8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576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两个可选探索方向（拟开展）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B42072-1679-4F59-AF4F-0650AA0D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29125"/>
            <a:ext cx="5429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A  同骨架给/吸电子取代：检验电位—溶解—循环权衡。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11E9E5-5C16-4813-A81F-9880E325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00600"/>
            <a:ext cx="5429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B  NH骨架的阴离子对照：控制Zn浓度、pH、电导与窗口。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38506F-8EF7-4893-9E17-B3E97C23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172075"/>
            <a:ext cx="5429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33B51"/>
                </a:solidFill>
                <a:latin typeface="Noto Sans CJK SC"/>
                <a:ea typeface="Noto Sans CJK SC"/>
                <a:cs typeface="Noto Sans CJK SC"/>
              </a:rPr>
              <a:t>位点封闭会改变共轭；新盐体系先做兼容性评估。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59470E-4D77-479C-8C17-F915F950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086475"/>
            <a:ext cx="1165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95EF1D-2922-4D0C-8A74-A1E74FE4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53150"/>
            <a:ext cx="11410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拟开展研究；先验证合成与纯度，再评价性能，不预设正向结果。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8D4B19-E8A9-4EFF-B158-63A7F29E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81775"/>
            <a:ext cx="11334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96B79"/>
                </a:solidFill>
                <a:latin typeface="Noto Sans CJK SC"/>
                <a:ea typeface="Noto Sans CJK SC"/>
                <a:cs typeface="Noto Sans CJK SC"/>
              </a:rPr>
              <a:t>拟开展方案，非实验结果。依据：[P1] Fig.1/4/5；[P2] Fig.1/5；[P3] Fig.1/2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4172AB-D754-493A-973A-B09AB38E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5436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65492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668115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2026-11-01T03:53:10.9450000Z</dcterms:created>
  <dcterms:modified xsi:type="dcterms:W3CDTF">2026-11-01T03:53:10.9450000Z</dcterms:modified>
</coreProperties>
</file>