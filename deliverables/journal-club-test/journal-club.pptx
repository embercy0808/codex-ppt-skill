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6d24d77f41c4348" /><Relationship Type="http://schemas.openxmlformats.org/officeDocument/2006/relationships/extended-properties" Target="/docProps/app.xml" Id="R3566573c469041b0" /><Relationship Type="http://schemas.openxmlformats.org/officeDocument/2006/relationships/officeDocument" Target="/ppt/presentation.xml" Id="R117982bf6afe473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7081b0e33914d6b"/>
  </p:sldMasterIdLst>
  <p:notesMasterIdLst>
    <p:notesMasterId xmlns:r="http://schemas.openxmlformats.org/officeDocument/2006/relationships" r:id="Rfbc3164f95e949ea"/>
  </p:notesMasterIdLst>
  <p:sldIdLst>
    <p:sldId xmlns:r="http://schemas.openxmlformats.org/officeDocument/2006/relationships" id="256" r:id="Re19f7eb0f1c0446f"/>
    <p:sldId xmlns:r="http://schemas.openxmlformats.org/officeDocument/2006/relationships" id="257" r:id="R2d1517b2dc204d78"/>
    <p:sldId xmlns:r="http://schemas.openxmlformats.org/officeDocument/2006/relationships" id="258" r:id="R3805e155787f42c3"/>
    <p:sldId xmlns:r="http://schemas.openxmlformats.org/officeDocument/2006/relationships" id="259" r:id="R8a1b44b7a3834454"/>
    <p:sldId xmlns:r="http://schemas.openxmlformats.org/officeDocument/2006/relationships" id="260" r:id="Rd3dd50637545489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90881b9525f49b9" /><Relationship Type="http://schemas.openxmlformats.org/officeDocument/2006/relationships/slideMaster" Target="/ppt/slideMasters/slideMaster1.xml" Id="Rd7081b0e33914d6b" /><Relationship Type="http://schemas.openxmlformats.org/officeDocument/2006/relationships/notesMaster" Target="/ppt/notesMasters/notesMaster1.xml" Id="Rfbc3164f95e949ea" /><Relationship Type="http://schemas.openxmlformats.org/officeDocument/2006/relationships/presProps" Target="/ppt/presProps.xml" Id="R199271c6a5724de5" /><Relationship Type="http://schemas.openxmlformats.org/officeDocument/2006/relationships/tableStyles" Target="/ppt/tableStyles.xml" Id="R559cc93248684843" /><Relationship Type="http://schemas.openxmlformats.org/officeDocument/2006/relationships/slide" Target="/ppt/slides/slide1.xml" Id="Re19f7eb0f1c0446f" /><Relationship Type="http://schemas.openxmlformats.org/officeDocument/2006/relationships/slide" Target="/ppt/slides/slide2.xml" Id="R2d1517b2dc204d78" /><Relationship Type="http://schemas.openxmlformats.org/officeDocument/2006/relationships/slide" Target="/ppt/slides/slide3.xml" Id="R3805e155787f42c3" /><Relationship Type="http://schemas.openxmlformats.org/officeDocument/2006/relationships/slide" Target="/ppt/slides/slide4.xml" Id="R8a1b44b7a3834454" /><Relationship Type="http://schemas.openxmlformats.org/officeDocument/2006/relationships/slide" Target="/ppt/slides/slide5.xml" Id="Rd3dd50637545489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87b9efd9166455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4454c438d194e42" /><Relationship Type="http://schemas.openxmlformats.org/officeDocument/2006/relationships/notesMaster" Target="/ppt/notesMasters/notesMaster1.xml" Id="Recf21cb871d84db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39fb0a904094b21" /><Relationship Type="http://schemas.openxmlformats.org/officeDocument/2006/relationships/notesMaster" Target="/ppt/notesMasters/notesMaster1.xml" Id="R657c7ec49ec64af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9d809620b684af9" /><Relationship Type="http://schemas.openxmlformats.org/officeDocument/2006/relationships/notesMaster" Target="/ppt/notesMasters/notesMaster1.xml" Id="R0e1cf419469f476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bb0592d83fe45a4" /><Relationship Type="http://schemas.openxmlformats.org/officeDocument/2006/relationships/notesMaster" Target="/ppt/notesMasters/notesMaster1.xml" Id="R66bbe765cad7418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d06b21bf9f64b84" /><Relationship Type="http://schemas.openxmlformats.org/officeDocument/2006/relationships/notesMaster" Target="/ppt/notesMasters/notesMaster1.xml" Id="R6ad317d2a54a4ca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P1: 水系锌离子电池有机正极材料研究概述. 演示内容｜非真实论文，无实验数据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P1:Scope: PDF第1页，演示材料第1页：范围说明与待核实问题。本文件为制作链路测试夹具，不是真实论文。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阅读分析：演示内容：仅提供测试范围与待核实的阅读问题，不含真实文献结论。 [P1:Scope]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P1: 水系锌离子电池有机正极材料研究概述. 演示内容｜非真实论文，无实验数据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P1:Scope: PDF第1页，演示材料第1页：范围说明与待核实问题。本文件为制作链路测试夹具，不是真实论文。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阅读分析：演示内容：仅提供测试范围与待核实的阅读问题，不含真实文献结论。 [P1:Scope]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P1: 水系锌离子电池有机正极材料研究概述. 演示内容｜非真实论文，无实验数据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P1:DemoFigure: PDF第2页，演示材料第2页：文字图位，不是实验图。演示内容，不构成科研证据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P1:Scope: PDF第1页，演示材料第1页：范围说明与待核实问题。本文件为制作链路测试夹具，不是真实论文。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阅读分析：演示内容：此图位仅测试图像位置与等比缩放，不包含实验结果。 [P1:DemoFigure, P1:Scope]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f2681f8983a422b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cb52e3e83944c4b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5f3a9c9c2094fb4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eb1a2d333254368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ae12b004df1480e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9887f90b5c5499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E3F7D6D-3A18-40FA-87D7-CD5A17FD9F3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CA01454E-533F-49B9-AF17-134494FCBC2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D20B36AC-B6CB-4F74-949C-FF1E229CFC2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B26DDEA-74BD-4941-BCA5-FAF3446CB4D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09A12CC4-4C9E-4710-82D1-7405CDB4361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1F2058E9-E22F-4CBD-A729-75D21107668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5EAF16B-A23B-4919-BC77-915905E93E4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EABE72DD-82EF-493B-842B-746B31743E1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0378A43-504F-4CA5-9430-1BE6A419FB9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106FE65-A7CA-4912-B42E-4B73E7CFE79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c0ec3a19cfe4cff" /><Relationship Type="http://schemas.openxmlformats.org/officeDocument/2006/relationships/slideLayout" Target="/ppt/slideLayouts/slideLayout1.xml" Id="R5536999b908b4499" /><Relationship Type="http://schemas.openxmlformats.org/officeDocument/2006/relationships/slideLayout" Target="/ppt/slideLayouts/slideLayout2.xml" Id="R26e7818cd60b4969" /><Relationship Type="http://schemas.openxmlformats.org/officeDocument/2006/relationships/slideLayout" Target="/ppt/slideLayouts/slideLayout3.xml" Id="Rf6eeff9fb3ec4a43" /><Relationship Type="http://schemas.openxmlformats.org/officeDocument/2006/relationships/slideLayout" Target="/ppt/slideLayouts/slideLayout4.xml" Id="R30766ece4e7546db" /><Relationship Type="http://schemas.openxmlformats.org/officeDocument/2006/relationships/slideLayout" Target="/ppt/slideLayouts/slideLayout5.xml" Id="Rb9d4abfc8987435b" /><Relationship Type="http://schemas.openxmlformats.org/officeDocument/2006/relationships/slideLayout" Target="/ppt/slideLayouts/slideLayout6.xml" Id="Rf21fb585e89e40a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536999b908b4499"/>
    <p:sldLayoutId xmlns:r="http://schemas.openxmlformats.org/officeDocument/2006/relationships" id="2147483650" r:id="R26e7818cd60b4969"/>
    <p:sldLayoutId xmlns:r="http://schemas.openxmlformats.org/officeDocument/2006/relationships" id="2147483651" r:id="Rf6eeff9fb3ec4a43"/>
    <p:sldLayoutId xmlns:r="http://schemas.openxmlformats.org/officeDocument/2006/relationships" id="2147483652" r:id="R30766ece4e7546db"/>
    <p:sldLayoutId xmlns:r="http://schemas.openxmlformats.org/officeDocument/2006/relationships" id="2147483653" r:id="Rb9d4abfc8987435b"/>
    <p:sldLayoutId xmlns:r="http://schemas.openxmlformats.org/officeDocument/2006/relationships" id="2147483654" r:id="Rf21fb585e89e40a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2af377ba6ce4cf6" /><Relationship Type="http://schemas.openxmlformats.org/officeDocument/2006/relationships/image" Target="/ppt/media/image.png" Id="R05d2d7e8b0ed4897" /><Relationship Type="http://schemas.openxmlformats.org/officeDocument/2006/relationships/image" Target="/ppt/media/image.svg" Id="R359093c8d8f3432f" /><Relationship Type="http://schemas.openxmlformats.org/officeDocument/2006/relationships/image" Target="/ppt/media/image2.png" Id="R4407c991c66e4acd" /><Relationship Type="http://schemas.openxmlformats.org/officeDocument/2006/relationships/image" Target="/ppt/media/image2.svg" Id="Rcf3394a840c84b03" /><Relationship Type="http://schemas.openxmlformats.org/officeDocument/2006/relationships/notesSlide" Target="/ppt/notesSlides/notesSlide1.xml" Id="R8c26768707f340b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75ef6c2ead04bb4" /><Relationship Type="http://schemas.openxmlformats.org/officeDocument/2006/relationships/notesSlide" Target="/ppt/notesSlides/notesSlide2.xml" Id="R24d555b48e10473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ba80a905de44c8c" /><Relationship Type="http://schemas.openxmlformats.org/officeDocument/2006/relationships/notesSlide" Target="/ppt/notesSlides/notesSlide3.xml" Id="R6e87a3f032b447f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268024e345940b9" /><Relationship Type="http://schemas.openxmlformats.org/officeDocument/2006/relationships/image" Target="/ppt/media/image3.png" Id="R1414e34c008d4974" /><Relationship Type="http://schemas.openxmlformats.org/officeDocument/2006/relationships/notesSlide" Target="/ppt/notesSlides/notesSlide4.xml" Id="Rff777a08a7b74b1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310cf8a5ddb4a08" /><Relationship Type="http://schemas.openxmlformats.org/officeDocument/2006/relationships/image" Target="/ppt/media/image4.png" Id="R10f8c2f5dad445ac" /><Relationship Type="http://schemas.openxmlformats.org/officeDocument/2006/relationships/image" Target="/ppt/media/image3.svg" Id="R5a3bee6327474912" /><Relationship Type="http://schemas.openxmlformats.org/officeDocument/2006/relationships/image" Target="/ppt/media/image5.png" Id="R898586a3f2e84dc7" /><Relationship Type="http://schemas.openxmlformats.org/officeDocument/2006/relationships/image" Target="/ppt/media/image4.svg" Id="Re66fe1c54ef6418f" /><Relationship Type="http://schemas.openxmlformats.org/officeDocument/2006/relationships/notesSlide" Target="/ppt/notesSlides/notesSlide5.xml" Id="Rbf00406715f94f4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42112D1-44DB-4702-AC56-8617EEF04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13742"/>
            <a:ext cx="12192000" cy="249343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497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F0D414-671F-4EE9-A0BE-109FD1422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377" y="262633"/>
            <a:ext cx="596598" cy="60922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2497B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C3C938-0AA7-4B90-BF1D-00FE86053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377" y="363645"/>
            <a:ext cx="432806" cy="60922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2497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EB68AD-9CFB-4721-8251-44D4F4E07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377" y="464668"/>
            <a:ext cx="291503" cy="60922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2497B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FD42EB-11C5-46BF-859E-B86E72DFE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9025" y="6537646"/>
            <a:ext cx="596598" cy="60922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2497B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46860D-9EB8-4B47-8263-CEB34A627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2817" y="6436624"/>
            <a:ext cx="432806" cy="60922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2497B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813443-D127-4C83-A250-0F6781A26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54111" y="6335611"/>
            <a:ext cx="291503" cy="60922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2497B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CC48D9-D438-4FE1-8334-8A9A75741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657475"/>
            <a:ext cx="8763000" cy="1209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66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ctr">
              <a:defRPr sz="66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6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组会汇报</a:t>
            </a:r>
          </a:p>
        </p:txBody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883BEA-4888-4683-A480-CFD3A7960DB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d2d7e8b0ed4897">
            <a:extLst>
              <a:ext uri="{96DAC541-7B7A-43D3-8B79-37D633B846F1}">
                <asvg:svgBlip xmlns:asvg="http://schemas.microsoft.com/office/drawing/2016/SVG/main" r:embed="R359093c8d8f3432f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2646836" y="5214471"/>
            <a:ext cx="261537" cy="229276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E9E9FB-B7E5-4A1E-8D54-344AE072F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5181600"/>
            <a:ext cx="33813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00" b="0">
                <a:solidFill>
                  <a:srgbClr val="000000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2000" b="0">
                <a:solidFill>
                  <a:srgbClr val="00000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00" b="0">
                <a:solidFill>
                  <a:srgbClr val="000000"/>
                </a:solidFill>
                <a:latin typeface="Noto Sans CJK SC"/>
                <a:ea typeface="Noto Sans CJK SC"/>
                <a:cs typeface="Noto Sans CJK SC"/>
              </a:rPr>
              <a:t>汇报人：陈艺</a:t>
            </a:r>
          </a:p>
        </p:txBody>
      </p:sp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850CB6-8F21-43FD-97C9-6B9FB6C3B32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07c991c66e4acd">
            <a:extLst>
              <a:ext uri="{96DAC541-7B7A-43D3-8B79-37D633B846F1}">
                <asvg:svgBlip xmlns:asvg="http://schemas.microsoft.com/office/drawing/2016/SVG/main" r:embed="Rcf3394a840c84b03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644069" y="5210251"/>
            <a:ext cx="246917" cy="254879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AA8DEB0-41D5-462F-ADF7-D8A4DBF42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5181600"/>
            <a:ext cx="3524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00" b="0">
                <a:solidFill>
                  <a:srgbClr val="000000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2000" b="0">
                <a:solidFill>
                  <a:srgbClr val="00000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00" b="0">
                <a:solidFill>
                  <a:srgbClr val="000000"/>
                </a:solidFill>
                <a:latin typeface="Noto Sans CJK SC"/>
                <a:ea typeface="Noto Sans CJK SC"/>
                <a:cs typeface="Noto Sans CJK SC"/>
              </a:rPr>
              <a:t>汇报日期：2026.10.31</a:t>
            </a:r>
          </a:p>
        </p:txBody>
      </p:sp>
    </p:spTree>
    <p:extLst>
      <p:ext uri="{BB962C8B-B14F-4D97-AF65-F5344CB8AC3E}">
        <p14:creationId xmlns:p14="http://schemas.microsoft.com/office/powerpoint/2010/main" val="173256351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E4A3C20-293E-4566-A586-A1CAF9418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533400" y="295275"/>
            <a:ext cx="228600" cy="2095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32497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6DF9D5-3AB8-43B0-942B-F2230C9C5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9075"/>
            <a:ext cx="107156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32497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3249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1">
                <a:solidFill>
                  <a:srgbClr val="32497B"/>
                </a:solidFill>
                <a:latin typeface="Noto Sans CJK SC"/>
                <a:ea typeface="Noto Sans CJK SC"/>
                <a:cs typeface="Noto Sans CJK SC"/>
              </a:rPr>
              <a:t>1.1 文献基本信息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1BBF2F-7306-4169-A391-7840CE2FC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817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497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334CF4-D35C-472A-A585-635C4D5DC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82425" y="6438900"/>
            <a:ext cx="4095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497B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3754D0-5C8E-4A40-94F1-CCE764FCB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6505575"/>
            <a:ext cx="3333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0655FA-E25F-4FCB-BA3B-FFEC201D5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81075"/>
            <a:ext cx="10953750" cy="4143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252B35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252B3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1">
                <a:solidFill>
                  <a:srgbClr val="252B35"/>
                </a:solidFill>
                <a:latin typeface="Noto Sans CJK SC"/>
                <a:ea typeface="Noto Sans CJK SC"/>
                <a:cs typeface="Noto Sans CJK SC"/>
              </a:rPr>
              <a:t>水系锌离子电池有机正极材料研究概述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70314A-A33B-4DD8-8B0F-CF54DD90C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38288"/>
            <a:ext cx="1095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B6D0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894492-425F-4042-ACFE-D98E55605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66888"/>
            <a:ext cx="5114925" cy="3181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52B35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252B3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0">
                <a:solidFill>
                  <a:srgbClr val="252B35"/>
                </a:solidFill>
                <a:latin typeface="Noto Sans CJK SC"/>
                <a:ea typeface="Noto Sans CJK SC"/>
                <a:cs typeface="Noto Sans CJK SC"/>
              </a:rPr>
              <a:t>来源：演示内容｜非真实论文，无实验数据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8B059F-908A-4672-9D05-0D49EA5DC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1766888"/>
            <a:ext cx="5267325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32497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3249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32497B"/>
                </a:solidFill>
                <a:latin typeface="Noto Sans CJK SC"/>
                <a:ea typeface="Noto Sans CJK SC"/>
                <a:cs typeface="Noto Sans CJK SC"/>
              </a:rPr>
              <a:t>主要研究内容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4FF3A0-5959-4054-96D2-BAF1ADC7E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2166938"/>
            <a:ext cx="5267325" cy="1022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252B35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252B3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0">
                <a:solidFill>
                  <a:srgbClr val="252B35"/>
                </a:solidFill>
                <a:latin typeface="Noto Sans CJK SC"/>
                <a:ea typeface="Noto Sans CJK SC"/>
                <a:cs typeface="Noto Sans CJK SC"/>
              </a:rPr>
              <a:t>演示内容：本次未提供原始论文。仅展示主题阅读框架与证据图位，不填写作者、期刊指标、性能数值或论文结论。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87A533-92E8-4527-8DB6-326EBC3CF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3427095"/>
            <a:ext cx="5267325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32497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3249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32497B"/>
                </a:solidFill>
                <a:latin typeface="Noto Sans CJK SC"/>
                <a:ea typeface="Noto Sans CJK SC"/>
                <a:cs typeface="Noto Sans CJK SC"/>
              </a:rPr>
              <a:t>关键词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AAF181C-437B-4203-BE80-F4151916D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3827145"/>
            <a:ext cx="5267325" cy="3276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52B35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252B3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0">
                <a:solidFill>
                  <a:srgbClr val="252B35"/>
                </a:solidFill>
                <a:latin typeface="Noto Sans CJK SC"/>
                <a:ea typeface="Noto Sans CJK SC"/>
                <a:cs typeface="Noto Sans CJK SC"/>
              </a:rPr>
              <a:t>演示材料、有机正极、水系锌电池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A19BE7-00E1-4012-BEF5-01D9448BC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6429375"/>
            <a:ext cx="109728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626873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62687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626873"/>
                </a:solidFill>
                <a:latin typeface="Noto Sans CJK SC"/>
                <a:ea typeface="Noto Sans CJK SC"/>
                <a:cs typeface="Noto Sans CJK SC"/>
              </a:rPr>
              <a:t>来源：P1，PDF第1页。详见本页备注。</a:t>
            </a:r>
          </a:p>
        </p:txBody>
      </p:sp>
    </p:spTree>
    <p:extLst>
      <p:ext uri="{BB962C8B-B14F-4D97-AF65-F5344CB8AC3E}">
        <p14:creationId xmlns:p14="http://schemas.microsoft.com/office/powerpoint/2010/main" val="68847829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190678-0EC6-4DA3-8EED-B293AF094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533400" y="295275"/>
            <a:ext cx="228600" cy="2095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32497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A72D4E-20AC-437B-87C7-2C183F59C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9075"/>
            <a:ext cx="107156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32497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3249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1">
                <a:solidFill>
                  <a:srgbClr val="32497B"/>
                </a:solidFill>
                <a:latin typeface="Noto Sans CJK SC"/>
                <a:ea typeface="Noto Sans CJK SC"/>
                <a:cs typeface="Noto Sans CJK SC"/>
              </a:rPr>
              <a:t>1.2 研究概述与阅读框架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736744-4285-4D92-B081-A89C80ACC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817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497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D6B70E-4243-4056-BBB8-60286037F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82425" y="6438900"/>
            <a:ext cx="4095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497B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335FA5-E3A7-4DCF-B930-F7BC6C809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6505575"/>
            <a:ext cx="3333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937BFB-BFB4-423E-8169-9E3E2246F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62025"/>
            <a:ext cx="1095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252B35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252B3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1">
                <a:solidFill>
                  <a:srgbClr val="252B35"/>
                </a:solidFill>
                <a:latin typeface="Noto Sans CJK SC"/>
                <a:ea typeface="Noto Sans CJK SC"/>
                <a:cs typeface="Noto Sans CJK SC"/>
              </a:rPr>
              <a:t>研究概述：待核实的阅读问题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0B26A6-4C34-4546-996E-239E14E9D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95375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32497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3249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32497B"/>
                </a:solidFill>
                <a:latin typeface="Noto Sans CJK SC"/>
                <a:ea typeface="Noto Sans CJK SC"/>
                <a:cs typeface="Noto Sans CJK SC"/>
              </a:rPr>
              <a:t>演示内容｜下列内容是阅读提纲，不是研究发现</a:t>
            </a:r>
          </a:p>
        </p:txBody>
      </p:sp>
      <p:graphicFrame>
        <p:nvGraphicFrame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2A03E7-AAB9-4DA1-ABFA-C1C1C773FE44}"/>
              </a:ext>
            </a:extLst>
          </p:cNvPr>
          <p:cNvGraphicFramePr/>
          <p:nvPr/>
        </p:nvGraphicFramePr>
        <p:xfrm>
          <a:off xmlns:a="http://schemas.openxmlformats.org/drawingml/2006/main" x="590550" y="2057400"/>
          <a:ext xmlns:a="http://schemas.openxmlformats.org/drawingml/2006/main" cx="10991850" cy="3476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63950"/>
                <a:gridCol w="3663950"/>
                <a:gridCol w="3663950"/>
              </a:tblGrid>
              <a:tr h="869156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阅读维度</a:t>
                      </a:r>
                    </a:p>
                  </a:txBody>
                  <a:tcPr marL="114300" marR="114300" marT="95250" marB="76200" anchor="ctr">
                    <a:lnL w="6668">
                      <a:solidFill>
                        <a:srgbClr val="A9B6D0"/>
                      </a:solidFill>
                      <a:prstDash val="solid"/>
                    </a:lnL>
                    <a:lnR w="6668">
                      <a:solidFill>
                        <a:srgbClr val="A9B6D0"/>
                      </a:solidFill>
                      <a:prstDash val="solid"/>
                    </a:lnR>
                    <a:lnT w="6668">
                      <a:solidFill>
                        <a:srgbClr val="A9B6D0"/>
                      </a:solidFill>
                      <a:prstDash val="solid"/>
                    </a:lnT>
                    <a:lnB w="6668">
                      <a:solidFill>
                        <a:srgbClr val="A9B6D0"/>
                      </a:solidFill>
                      <a:prstDash val="solid"/>
                    </a:lnB>
                    <a:solidFill>
                      <a:srgbClr val="32497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需要从真实论文核实的问题</a:t>
                      </a:r>
                    </a:p>
                  </a:txBody>
                  <a:tcPr marL="114300" marR="114300" marT="95250" marB="76200" anchor="ctr">
                    <a:lnR w="6668">
                      <a:solidFill>
                        <a:srgbClr val="A9B6D0"/>
                      </a:solidFill>
                      <a:prstDash val="solid"/>
                    </a:lnR>
                    <a:lnT w="6668">
                      <a:solidFill>
                        <a:srgbClr val="A9B6D0"/>
                      </a:solidFill>
                      <a:prstDash val="solid"/>
                    </a:lnT>
                    <a:lnB w="6668">
                      <a:solidFill>
                        <a:srgbClr val="A9B6D0"/>
                      </a:solidFill>
                      <a:prstDash val="solid"/>
                    </a:lnB>
                    <a:solidFill>
                      <a:srgbClr val="32497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当前状态</a:t>
                      </a:r>
                    </a:p>
                  </a:txBody>
                  <a:tcPr marL="114300" marR="114300" marT="95250" marB="76200" anchor="ctr">
                    <a:lnR w="6668">
                      <a:solidFill>
                        <a:srgbClr val="A9B6D0"/>
                      </a:solidFill>
                      <a:prstDash val="solid"/>
                    </a:lnR>
                    <a:lnT w="6668">
                      <a:solidFill>
                        <a:srgbClr val="A9B6D0"/>
                      </a:solidFill>
                      <a:prstDash val="solid"/>
                    </a:lnT>
                    <a:lnB w="6668">
                      <a:solidFill>
                        <a:srgbClr val="A9B6D0"/>
                      </a:solidFill>
                      <a:prstDash val="solid"/>
                    </a:lnB>
                    <a:solidFill>
                      <a:srgbClr val="32497B"/>
                    </a:solidFill>
                  </a:tcPr>
                </a:tc>
              </a:tr>
              <a:tr h="869156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2B3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材料结构</a:t>
                      </a:r>
                    </a:p>
                  </a:txBody>
                  <a:tcPr marL="114300" marR="114300" marT="95250" marB="76200" anchor="ctr">
                    <a:lnL w="6668">
                      <a:solidFill>
                        <a:srgbClr val="A9B6D0"/>
                      </a:solidFill>
                      <a:prstDash val="solid"/>
                    </a:lnL>
                    <a:lnR w="6668">
                      <a:solidFill>
                        <a:srgbClr val="A9B6D0"/>
                      </a:solidFill>
                      <a:prstDash val="solid"/>
                    </a:lnR>
                    <a:lnB w="6668">
                      <a:solidFill>
                        <a:srgbClr val="A9B6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2B3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何种官能团与分子骨架参与讨论？</a:t>
                      </a:r>
                    </a:p>
                  </a:txBody>
                  <a:tcPr marL="114300" marR="114300" marT="95250" marB="76200" anchor="ctr">
                    <a:lnR w="6668">
                      <a:solidFill>
                        <a:srgbClr val="A9B6D0"/>
                      </a:solidFill>
                      <a:prstDash val="solid"/>
                    </a:lnR>
                    <a:lnB w="6668">
                      <a:solidFill>
                        <a:srgbClr val="A9B6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2B3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未提供原文</a:t>
                      </a:r>
                    </a:p>
                  </a:txBody>
                  <a:tcPr marL="114300" marR="114300" marT="95250" marB="76200" anchor="ctr">
                    <a:lnR w="6668">
                      <a:solidFill>
                        <a:srgbClr val="A9B6D0"/>
                      </a:solidFill>
                      <a:prstDash val="solid"/>
                    </a:lnR>
                    <a:lnB w="6668">
                      <a:solidFill>
                        <a:srgbClr val="A9B6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69156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2B3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反应机制</a:t>
                      </a:r>
                    </a:p>
                  </a:txBody>
                  <a:tcPr marL="114300" marR="114300" marT="95250" marB="76200" anchor="ctr">
                    <a:lnL w="6668">
                      <a:solidFill>
                        <a:srgbClr val="A9B6D0"/>
                      </a:solidFill>
                      <a:prstDash val="solid"/>
                    </a:lnL>
                    <a:lnR w="6668">
                      <a:solidFill>
                        <a:srgbClr val="A9B6D0"/>
                      </a:solidFill>
                      <a:prstDash val="solid"/>
                    </a:lnR>
                    <a:lnB w="6668">
                      <a:solidFill>
                        <a:srgbClr val="A9B6D0"/>
                      </a:solidFill>
                      <a:prstDash val="solid"/>
                    </a:lnB>
                    <a:solidFill>
                      <a:srgbClr val="E9ED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2B3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载流离子与反应位点如何判定？</a:t>
                      </a:r>
                    </a:p>
                  </a:txBody>
                  <a:tcPr marL="114300" marR="114300" marT="95250" marB="76200" anchor="ctr">
                    <a:lnR w="6668">
                      <a:solidFill>
                        <a:srgbClr val="A9B6D0"/>
                      </a:solidFill>
                      <a:prstDash val="solid"/>
                    </a:lnR>
                    <a:lnB w="6668">
                      <a:solidFill>
                        <a:srgbClr val="A9B6D0"/>
                      </a:solidFill>
                      <a:prstDash val="solid"/>
                    </a:lnB>
                    <a:solidFill>
                      <a:srgbClr val="E9ED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2B3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未提供证据</a:t>
                      </a:r>
                    </a:p>
                  </a:txBody>
                  <a:tcPr marL="114300" marR="114300" marT="95250" marB="76200" anchor="ctr">
                    <a:lnR w="6668">
                      <a:solidFill>
                        <a:srgbClr val="A9B6D0"/>
                      </a:solidFill>
                      <a:prstDash val="solid"/>
                    </a:lnR>
                    <a:lnB w="6668">
                      <a:solidFill>
                        <a:srgbClr val="A9B6D0"/>
                      </a:solidFill>
                      <a:prstDash val="solid"/>
                    </a:lnB>
                    <a:solidFill>
                      <a:srgbClr val="E9EDF5"/>
                    </a:solidFill>
                  </a:tcPr>
                </a:tc>
              </a:tr>
              <a:tr h="869156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2B3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评价边界</a:t>
                      </a:r>
                    </a:p>
                  </a:txBody>
                  <a:tcPr marL="114300" marR="114300" marT="95250" marB="76200" anchor="ctr">
                    <a:lnL w="6668">
                      <a:solidFill>
                        <a:srgbClr val="A9B6D0"/>
                      </a:solidFill>
                      <a:prstDash val="solid"/>
                    </a:lnL>
                    <a:lnR w="6668">
                      <a:solidFill>
                        <a:srgbClr val="A9B6D0"/>
                      </a:solidFill>
                      <a:prstDash val="solid"/>
                    </a:lnR>
                    <a:lnB w="6668">
                      <a:solidFill>
                        <a:srgbClr val="A9B6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2B3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测试条件与对照是否可比？</a:t>
                      </a:r>
                    </a:p>
                  </a:txBody>
                  <a:tcPr marL="114300" marR="114300" marT="95250" marB="76200" anchor="ctr">
                    <a:lnR w="6668">
                      <a:solidFill>
                        <a:srgbClr val="A9B6D0"/>
                      </a:solidFill>
                      <a:prstDash val="solid"/>
                    </a:lnR>
                    <a:lnB w="6668">
                      <a:solidFill>
                        <a:srgbClr val="A9B6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2B3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不作性能排名</a:t>
                      </a:r>
                    </a:p>
                  </a:txBody>
                  <a:tcPr marL="114300" marR="114300" marT="95250" marB="76200" anchor="ctr">
                    <a:lnR w="6668">
                      <a:solidFill>
                        <a:srgbClr val="A9B6D0"/>
                      </a:solidFill>
                      <a:prstDash val="solid"/>
                    </a:lnR>
                    <a:lnB w="6668">
                      <a:solidFill>
                        <a:srgbClr val="A9B6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F01C50-802B-4A59-9DEC-A28C0C1F9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734050"/>
            <a:ext cx="111061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497B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E2CCA6-455F-456F-94BD-728AEE9C4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848350"/>
            <a:ext cx="107823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演示内容：所有科学判断均等待真实论文与证据支持。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B0DD7C-3A81-4C3D-AC8B-9C1AD7CE3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6429375"/>
            <a:ext cx="109728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626873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62687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626873"/>
                </a:solidFill>
                <a:latin typeface="Noto Sans CJK SC"/>
                <a:ea typeface="Noto Sans CJK SC"/>
                <a:cs typeface="Noto Sans CJK SC"/>
              </a:rPr>
              <a:t>来源：P1，PDF第1页。详见本页备注。</a:t>
            </a:r>
          </a:p>
        </p:txBody>
      </p:sp>
    </p:spTree>
    <p:extLst>
      <p:ext uri="{BB962C8B-B14F-4D97-AF65-F5344CB8AC3E}">
        <p14:creationId xmlns:p14="http://schemas.microsoft.com/office/powerpoint/2010/main" val="197912459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AC8BFF7-B972-498E-9E5C-B8E545267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533400" y="295275"/>
            <a:ext cx="228600" cy="2095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32497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E4BA58-066D-4498-AF00-2A4881ED2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9075"/>
            <a:ext cx="107156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32497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3249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1">
                <a:solidFill>
                  <a:srgbClr val="32497B"/>
                </a:solidFill>
                <a:latin typeface="Noto Sans CJK SC"/>
                <a:ea typeface="Noto Sans CJK SC"/>
                <a:cs typeface="Noto Sans CJK SC"/>
              </a:rPr>
              <a:t>1.3 证据边界与总结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A40155-A81F-48A2-A1C0-CC750629C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817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497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87308F-866C-48C5-8ECF-E18FE71F3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82425" y="6438900"/>
            <a:ext cx="4095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497B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93051F-7CB8-4AF1-90F5-07F862DD1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6505575"/>
            <a:ext cx="3333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81DA23-8DEE-4A7A-83F3-EFA72D532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62025"/>
            <a:ext cx="1095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252B35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252B3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1">
                <a:solidFill>
                  <a:srgbClr val="252B35"/>
                </a:solidFill>
                <a:latin typeface="Noto Sans CJK SC"/>
                <a:ea typeface="Noto Sans CJK SC"/>
                <a:cs typeface="Noto Sans CJK SC"/>
              </a:rPr>
              <a:t>证据图位与结论边界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F4D112-FCA5-4E2C-87CD-EE47013161F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14e34c008d4974"/>
          <a:stretch xmlns:a="http://schemas.openxmlformats.org/drawingml/2006/main"/>
        </p:blipFill>
        <p:spPr>
          <a:xfrm xmlns:a="http://schemas.openxmlformats.org/drawingml/2006/main">
            <a:off x="590550" y="2201680"/>
            <a:ext cx="5238750" cy="2711339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2A2F74-6C81-4A02-9BE4-7E2C12EB1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715905"/>
            <a:ext cx="51816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32497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3249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32497B"/>
                </a:solidFill>
                <a:latin typeface="Noto Sans CJK SC"/>
                <a:ea typeface="Noto Sans CJK SC"/>
                <a:cs typeface="Noto Sans CJK SC"/>
              </a:rPr>
              <a:t>演示内容｜非实验图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126C26-6B0D-4600-B540-B6256755F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027319"/>
            <a:ext cx="5162550" cy="3148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252B35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252B3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252B35"/>
                </a:solidFill>
                <a:latin typeface="Noto Sans CJK SC"/>
                <a:ea typeface="Noto Sans CJK SC"/>
                <a:cs typeface="Noto Sans CJK SC"/>
              </a:rPr>
              <a:t>测试夹具第2页裁图，不构成科研证据。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A2CBD1-1BF6-4847-934D-CD2B31459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2608898"/>
            <a:ext cx="5095875" cy="3181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52B35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252B3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0">
                <a:solidFill>
                  <a:srgbClr val="252B35"/>
                </a:solidFill>
                <a:latin typeface="Noto Sans CJK SC"/>
                <a:ea typeface="Noto Sans CJK SC"/>
                <a:cs typeface="Noto Sans CJK SC"/>
              </a:rPr>
              <a:t>当前材料仅用于检查图文布局与来源追溯。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BCDD01-1C4D-47B1-BD75-3EEC6B54D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3374707"/>
            <a:ext cx="5095875" cy="3181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52B35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252B3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0">
                <a:solidFill>
                  <a:srgbClr val="252B35"/>
                </a:solidFill>
                <a:latin typeface="Noto Sans CJK SC"/>
                <a:ea typeface="Noto Sans CJK SC"/>
                <a:cs typeface="Noto Sans CJK SC"/>
              </a:rPr>
              <a:t>正式汇报应使用经核实的原图、图注及实验条件。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6F529EB-64A6-46EE-B92E-E8B96A508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4140517"/>
            <a:ext cx="5095875" cy="3181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52B35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252B3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0">
                <a:solidFill>
                  <a:srgbClr val="252B35"/>
                </a:solidFill>
                <a:latin typeface="Noto Sans CJK SC"/>
                <a:ea typeface="Noto Sans CJK SC"/>
                <a:cs typeface="Noto Sans CJK SC"/>
              </a:rPr>
              <a:t>未提供数据，暂不评价性能、贡献或局限。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074014C-BE1D-4B6F-A38F-91BBFF861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734050"/>
            <a:ext cx="111061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497B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C6D4135-3613-47D8-901E-8F96DC8A9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848350"/>
            <a:ext cx="107823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总结：本稿验证制作流程；正式科研结论须回到原文。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72D7D14-FDF7-47FD-B114-03763E5C3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6429375"/>
            <a:ext cx="109728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626873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62687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626873"/>
                </a:solidFill>
                <a:latin typeface="Noto Sans CJK SC"/>
                <a:ea typeface="Noto Sans CJK SC"/>
                <a:cs typeface="Noto Sans CJK SC"/>
              </a:rPr>
              <a:t>来源：P1，PDF第1、2页。详见本页备注。</a:t>
            </a:r>
          </a:p>
        </p:txBody>
      </p:sp>
    </p:spTree>
    <p:extLst>
      <p:ext uri="{BB962C8B-B14F-4D97-AF65-F5344CB8AC3E}">
        <p14:creationId xmlns:p14="http://schemas.microsoft.com/office/powerpoint/2010/main" val="79622679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635F69D-8375-4EBB-B8EA-9A9FCDF72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13742"/>
            <a:ext cx="12192000" cy="249343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497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B3CF36-A837-4D37-8843-909E4C432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377" y="262633"/>
            <a:ext cx="596598" cy="60922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2497B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86A618-B9A8-4A4F-89C9-0A7889DC4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377" y="363645"/>
            <a:ext cx="432806" cy="60922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2497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288701-3C21-42AC-834C-5849E6294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377" y="464668"/>
            <a:ext cx="291503" cy="60922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2497B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37FA0B-6DAE-440C-A872-351F9E836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9025" y="6537646"/>
            <a:ext cx="596598" cy="60922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2497B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57860D-EC46-49D2-AA59-2B30D27AE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2817" y="6436624"/>
            <a:ext cx="432806" cy="60922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2497B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BE3E79-0C12-4B6D-A3F3-40759190E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54111" y="6335611"/>
            <a:ext cx="291503" cy="60922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2497B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08ED1A-ABA5-4C13-82D0-FE310108C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4426" y="2875738"/>
            <a:ext cx="9623148" cy="7694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44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ctr">
              <a:defRPr sz="44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44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汇报完毕，敬请老师同学批评指正！</a:t>
            </a:r>
          </a:p>
        </p:txBody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45FBAD-2246-47BF-8C4D-13E904C3A4D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f8c2f5dad445ac">
            <a:extLst>
              <a:ext uri="{96DAC541-7B7A-43D3-8B79-37D633B846F1}">
                <asvg:svgBlip xmlns:asvg="http://schemas.microsoft.com/office/drawing/2016/SVG/main" r:embed="R5a3bee6327474912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2646836" y="5214471"/>
            <a:ext cx="261537" cy="229276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DE0A49-0070-499D-A497-C23A4A3D8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5181600"/>
            <a:ext cx="33813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00" b="0">
                <a:solidFill>
                  <a:srgbClr val="000000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2000" b="0">
                <a:solidFill>
                  <a:srgbClr val="00000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00" b="0">
                <a:solidFill>
                  <a:srgbClr val="000000"/>
                </a:solidFill>
                <a:latin typeface="Noto Sans CJK SC"/>
                <a:ea typeface="Noto Sans CJK SC"/>
                <a:cs typeface="Noto Sans CJK SC"/>
              </a:rPr>
              <a:t>汇报人：陈艺</a:t>
            </a:r>
          </a:p>
        </p:txBody>
      </p:sp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AC0105C-0664-4532-945D-0C0D08513EC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8586a3f2e84dc7">
            <a:extLst>
              <a:ext uri="{96DAC541-7B7A-43D3-8B79-37D633B846F1}">
                <asvg:svgBlip xmlns:asvg="http://schemas.microsoft.com/office/drawing/2016/SVG/main" r:embed="Re66fe1c54ef6418f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644069" y="5210251"/>
            <a:ext cx="246917" cy="254879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20B4092-97B2-4116-B318-21904D6C1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5181600"/>
            <a:ext cx="3524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00" b="0">
                <a:solidFill>
                  <a:srgbClr val="000000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2000" b="0">
                <a:solidFill>
                  <a:srgbClr val="00000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00" b="0">
                <a:solidFill>
                  <a:srgbClr val="000000"/>
                </a:solidFill>
                <a:latin typeface="Noto Sans CJK SC"/>
                <a:ea typeface="Noto Sans CJK SC"/>
                <a:cs typeface="Noto Sans CJK SC"/>
              </a:rPr>
              <a:t>汇报日期：2026.10.31</a:t>
            </a:r>
          </a:p>
        </p:txBody>
      </p:sp>
    </p:spTree>
    <p:extLst>
      <p:ext uri="{BB962C8B-B14F-4D97-AF65-F5344CB8AC3E}">
        <p14:creationId xmlns:p14="http://schemas.microsoft.com/office/powerpoint/2010/main" val="163416613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2026-10-31T09:48:18.8900000Z</dcterms:created>
  <dcterms:modified xsi:type="dcterms:W3CDTF">2026-10-31T09:48:18.8900000Z</dcterms:modified>
</coreProperties>
</file>